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Monthly revenue (₹ thousand)</c:v>
                </c:pt>
              </c:strCache>
            </c:strRef>
          </c:tx>
          <c:spPr>
            <a:solidFill>
              <a:srgbClr val="1F3864"/>
            </a:solidFill>
            <a:ln w="31750" cap="flat">
              <a:solidFill>
                <a:srgbClr val="1F386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F3864"/>
              </a:solidFill>
              <a:ln w="9525" cap="flat">
                <a:solidFill>
                  <a:srgbClr val="1F3864"/>
                </a:solidFill>
                <a:prstDash val="solid"/>
                <a:round/>
              </a:ln>
              <a:effectLst/>
            </c:spPr>
          </c:marker>
          <c:cat>
            <c:multiLvlStrRef>
              <c:f>Sheet1!$A$2:$A$25</c:f>
              <c:multiLvlStrCache>
                <c:ptCount val="24"/>
                <c:lvl>
                  <c:pt idx="0">
                    <c:v>Jan-23</c:v>
                  </c:pt>
                  <c:pt idx="1">
                    <c:v>Feb-23</c:v>
                  </c:pt>
                  <c:pt idx="2">
                    <c:v>Mar-23</c:v>
                  </c:pt>
                  <c:pt idx="3">
                    <c:v>Apr-23</c:v>
                  </c:pt>
                  <c:pt idx="4">
                    <c:v>May-23</c:v>
                  </c:pt>
                  <c:pt idx="5">
                    <c:v>Jun-23</c:v>
                  </c:pt>
                  <c:pt idx="6">
                    <c:v>Jul-23</c:v>
                  </c:pt>
                  <c:pt idx="7">
                    <c:v>Aug-23</c:v>
                  </c:pt>
                  <c:pt idx="8">
                    <c:v>Sep-23</c:v>
                  </c:pt>
                  <c:pt idx="9">
                    <c:v>Oct-23</c:v>
                  </c:pt>
                  <c:pt idx="10">
                    <c:v>Nov-23</c:v>
                  </c:pt>
                  <c:pt idx="11">
                    <c:v>Dec-23</c:v>
                  </c:pt>
                  <c:pt idx="12">
                    <c:v>Jan-24</c:v>
                  </c:pt>
                  <c:pt idx="13">
                    <c:v>Feb-24</c:v>
                  </c:pt>
                  <c:pt idx="14">
                    <c:v>Mar-24</c:v>
                  </c:pt>
                  <c:pt idx="15">
                    <c:v>Apr-24</c:v>
                  </c:pt>
                  <c:pt idx="16">
                    <c:v>May-24</c:v>
                  </c:pt>
                  <c:pt idx="17">
                    <c:v>Jun-24</c:v>
                  </c:pt>
                  <c:pt idx="18">
                    <c:v>Jul-24</c:v>
                  </c:pt>
                  <c:pt idx="19">
                    <c:v>Aug-24</c:v>
                  </c:pt>
                  <c:pt idx="20">
                    <c:v>Sep-24</c:v>
                  </c:pt>
                  <c:pt idx="21">
                    <c:v>Oct-24</c:v>
                  </c:pt>
                  <c:pt idx="22">
                    <c:v>Nov-24</c:v>
                  </c:pt>
                  <c:pt idx="23">
                    <c:v>Dec-24</c:v>
                  </c:pt>
                </c:lvl>
              </c:multiLvlStrCache>
            </c:multiLvlStrRef>
          </c:cat>
          <c:val>
            <c:numRef>
              <c:f>Sheet1!$B$2:$B$25</c:f>
              <c:numCache>
                <c:formatCode>General</c:formatCode>
                <c:ptCount val="24"/>
                <c:pt idx="0">
                  <c:v>776</c:v>
                </c:pt>
                <c:pt idx="1">
                  <c:v>726</c:v>
                </c:pt>
                <c:pt idx="2">
                  <c:v>896</c:v>
                </c:pt>
                <c:pt idx="3">
                  <c:v>718</c:v>
                </c:pt>
                <c:pt idx="4">
                  <c:v>894</c:v>
                </c:pt>
                <c:pt idx="5">
                  <c:v>739</c:v>
                </c:pt>
                <c:pt idx="6">
                  <c:v>786</c:v>
                </c:pt>
                <c:pt idx="7">
                  <c:v>910</c:v>
                </c:pt>
                <c:pt idx="8">
                  <c:v>749</c:v>
                </c:pt>
                <c:pt idx="9">
                  <c:v>837</c:v>
                </c:pt>
                <c:pt idx="10">
                  <c:v>677</c:v>
                </c:pt>
                <c:pt idx="11">
                  <c:v>805</c:v>
                </c:pt>
                <c:pt idx="12">
                  <c:v>848</c:v>
                </c:pt>
                <c:pt idx="13">
                  <c:v>718</c:v>
                </c:pt>
                <c:pt idx="14">
                  <c:v>805</c:v>
                </c:pt>
                <c:pt idx="15">
                  <c:v>730</c:v>
                </c:pt>
                <c:pt idx="16">
                  <c:v>881</c:v>
                </c:pt>
                <c:pt idx="17">
                  <c:v>735</c:v>
                </c:pt>
                <c:pt idx="18">
                  <c:v>690</c:v>
                </c:pt>
                <c:pt idx="19">
                  <c:v>855</c:v>
                </c:pt>
                <c:pt idx="20">
                  <c:v>666</c:v>
                </c:pt>
                <c:pt idx="21">
                  <c:v>833</c:v>
                </c:pt>
                <c:pt idx="22">
                  <c:v>819</c:v>
                </c:pt>
                <c:pt idx="23">
                  <c:v>804</c:v>
                </c:pt>
              </c:numCache>
            </c:numRef>
          </c:val>
          <c:smooth val="0"/>
        </c:ser>
        <c:ser>
          <c:idx val="1"/>
          <c:order val="1"/>
          <c:tx>
            <c:strRef>
              <c:f>Sheet1!$C$1</c:f>
              <c:strCache>
                <c:ptCount val="1"/>
                <c:pt idx="0">
                  <c:v>3-month moving average</c:v>
                </c:pt>
              </c:strCache>
            </c:strRef>
          </c:tx>
          <c:spPr>
            <a:solidFill>
              <a:srgbClr val="C00000"/>
            </a:solidFill>
            <a:ln w="31750" cap="flat">
              <a:solidFill>
                <a:srgbClr val="C0000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00000"/>
              </a:solidFill>
              <a:ln w="9525" cap="flat">
                <a:solidFill>
                  <a:srgbClr val="C00000"/>
                </a:solidFill>
                <a:prstDash val="solid"/>
                <a:round/>
              </a:ln>
              <a:effectLst/>
            </c:spPr>
          </c:marker>
          <c:cat>
            <c:multiLvlStrRef>
              <c:f>Sheet1!$A$2:$A$25</c:f>
              <c:multiLvlStrCache>
                <c:ptCount val="24"/>
                <c:lvl>
                  <c:pt idx="0">
                    <c:v>Jan-23</c:v>
                  </c:pt>
                  <c:pt idx="1">
                    <c:v>Feb-23</c:v>
                  </c:pt>
                  <c:pt idx="2">
                    <c:v>Mar-23</c:v>
                  </c:pt>
                  <c:pt idx="3">
                    <c:v>Apr-23</c:v>
                  </c:pt>
                  <c:pt idx="4">
                    <c:v>May-23</c:v>
                  </c:pt>
                  <c:pt idx="5">
                    <c:v>Jun-23</c:v>
                  </c:pt>
                  <c:pt idx="6">
                    <c:v>Jul-23</c:v>
                  </c:pt>
                  <c:pt idx="7">
                    <c:v>Aug-23</c:v>
                  </c:pt>
                  <c:pt idx="8">
                    <c:v>Sep-23</c:v>
                  </c:pt>
                  <c:pt idx="9">
                    <c:v>Oct-23</c:v>
                  </c:pt>
                  <c:pt idx="10">
                    <c:v>Nov-23</c:v>
                  </c:pt>
                  <c:pt idx="11">
                    <c:v>Dec-23</c:v>
                  </c:pt>
                  <c:pt idx="12">
                    <c:v>Jan-24</c:v>
                  </c:pt>
                  <c:pt idx="13">
                    <c:v>Feb-24</c:v>
                  </c:pt>
                  <c:pt idx="14">
                    <c:v>Mar-24</c:v>
                  </c:pt>
                  <c:pt idx="15">
                    <c:v>Apr-24</c:v>
                  </c:pt>
                  <c:pt idx="16">
                    <c:v>May-24</c:v>
                  </c:pt>
                  <c:pt idx="17">
                    <c:v>Jun-24</c:v>
                  </c:pt>
                  <c:pt idx="18">
                    <c:v>Jul-24</c:v>
                  </c:pt>
                  <c:pt idx="19">
                    <c:v>Aug-24</c:v>
                  </c:pt>
                  <c:pt idx="20">
                    <c:v>Sep-24</c:v>
                  </c:pt>
                  <c:pt idx="21">
                    <c:v>Oct-24</c:v>
                  </c:pt>
                  <c:pt idx="22">
                    <c:v>Nov-24</c:v>
                  </c:pt>
                  <c:pt idx="23">
                    <c:v>Dec-24</c:v>
                  </c:pt>
                </c:lvl>
              </c:multiLvlStrCache>
            </c:multiLvlStrRef>
          </c:cat>
          <c:val>
            <c:numRef>
              <c:f>Sheet1!$C$2:$C$25</c:f>
              <c:numCache>
                <c:formatCode>General</c:formatCode>
                <c:ptCount val="24"/>
                <c:pt idx="0">
                  <c:v/>
                </c:pt>
                <c:pt idx="1">
                  <c:v/>
                </c:pt>
                <c:pt idx="2">
                  <c:v>799</c:v>
                </c:pt>
                <c:pt idx="3">
                  <c:v>780</c:v>
                </c:pt>
                <c:pt idx="4">
                  <c:v>836</c:v>
                </c:pt>
                <c:pt idx="5">
                  <c:v>784</c:v>
                </c:pt>
                <c:pt idx="6">
                  <c:v>806</c:v>
                </c:pt>
                <c:pt idx="7">
                  <c:v>812</c:v>
                </c:pt>
                <c:pt idx="8">
                  <c:v>815</c:v>
                </c:pt>
                <c:pt idx="9">
                  <c:v>832</c:v>
                </c:pt>
                <c:pt idx="10">
                  <c:v>754</c:v>
                </c:pt>
                <c:pt idx="11">
                  <c:v>773</c:v>
                </c:pt>
                <c:pt idx="12">
                  <c:v>777</c:v>
                </c:pt>
                <c:pt idx="13">
                  <c:v>790</c:v>
                </c:pt>
                <c:pt idx="14">
                  <c:v>790</c:v>
                </c:pt>
                <c:pt idx="15">
                  <c:v>751</c:v>
                </c:pt>
                <c:pt idx="16">
                  <c:v>805</c:v>
                </c:pt>
                <c:pt idx="17">
                  <c:v>782</c:v>
                </c:pt>
                <c:pt idx="18">
                  <c:v>769</c:v>
                </c:pt>
                <c:pt idx="19">
                  <c:v>760</c:v>
                </c:pt>
                <c:pt idx="20">
                  <c:v>737</c:v>
                </c:pt>
                <c:pt idx="21">
                  <c:v>785</c:v>
                </c:pt>
                <c:pt idx="22">
                  <c:v>773</c:v>
                </c:pt>
                <c:pt idx="23">
                  <c:v>819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10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Revenue per day: lift vs standard days</a:t>
            </a:r>
          </a:p>
        </c:rich>
      </c:tx>
      <c:layout/>
      <c:overlay val="0"/>
    </c:title>
    <c:autoTitleDeleted val="0"/>
    <c:plotArea>
      <c:layout/>
      <c:barChart>
        <c:barDir val="bar"/>
        <c:grouping val="clustered"/>
        <c:varyColors val="0"/>
        <c:ser>
          <c:idx val="0"/>
          <c:order val="0"/>
          <c:tx>
            <c:strRef>
              <c:f>Sheet1!$B$1</c:f>
              <c:strCache>
                <c:ptCount val="1"/>
                <c:pt idx="0">
                  <c:v>Revenue per day lift vs standard days</c:v>
                </c:pt>
              </c:strCache>
            </c:strRef>
          </c:tx>
          <c:spPr>
            <a:solidFill>
              <a:srgbClr val="C00000"/>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C00000"/>
              </a:solidFill>
              <a:effectLst/>
            </c:spPr>
          </c:dPt>
          <c:dPt>
            <c:idx val="1"/>
            <c:invertIfNegative val="0"/>
            <c:bubble3D val="0"/>
            <c:spPr>
              <a:solidFill>
                <a:srgbClr val="C00000"/>
              </a:solidFill>
              <a:effectLst/>
            </c:spPr>
          </c:dPt>
          <c:dPt>
            <c:idx val="2"/>
            <c:invertIfNegative val="0"/>
            <c:bubble3D val="0"/>
            <c:spPr>
              <a:solidFill>
                <a:srgbClr val="1F3864"/>
              </a:solidFill>
              <a:effectLst/>
            </c:spPr>
          </c:dPt>
          <c:dPt>
            <c:idx val="3"/>
            <c:invertIfNegative val="0"/>
            <c:bubble3D val="0"/>
            <c:spPr>
              <a:solidFill>
                <a:srgbClr val="1F3864"/>
              </a:solidFill>
              <a:effectLst/>
            </c:spPr>
          </c:dPt>
          <c:dPt>
            <c:idx val="4"/>
            <c:invertIfNegative val="0"/>
            <c:bubble3D val="0"/>
            <c:spPr>
              <a:solidFill>
                <a:srgbClr val="1F3864"/>
              </a:solidFill>
              <a:effectLst/>
            </c:spPr>
          </c:dPt>
          <c:dPt>
            <c:idx val="5"/>
            <c:invertIfNegative val="0"/>
            <c:bubble3D val="0"/>
            <c:spPr>
              <a:solidFill>
                <a:srgbClr val="1F3864"/>
              </a:solidFill>
              <a:effectLst/>
            </c:spPr>
          </c:dPt>
          <c:dPt>
            <c:idx val="6"/>
            <c:invertIfNegative val="0"/>
            <c:bubble3D val="0"/>
            <c:spPr>
              <a:solidFill>
                <a:srgbClr val="1F3864"/>
              </a:solidFill>
              <a:effectLst/>
            </c:spPr>
          </c:dPt>
          <c:cat>
            <c:multiLvlStrRef>
              <c:f>Sheet1!$A$2:$A$8</c:f>
              <c:multiLvlStrCache>
                <c:ptCount val="7"/>
                <c:lvl>
                  <c:pt idx="0">
                    <c:v>Diwali (9.5 d/yr)</c:v>
                  </c:pt>
                  <c:pt idx="1">
                    <c:v>End of Season (12 d/yr)</c:v>
                  </c:pt>
                  <c:pt idx="2">
                    <c:v>Big Billion Days (8 d/yr)</c:v>
                  </c:pt>
                  <c:pt idx="3">
                    <c:v>Republic Day (8 d/yr)</c:v>
                  </c:pt>
                  <c:pt idx="4">
                    <c:v>Holi (8 d/yr)</c:v>
                  </c:pt>
                  <c:pt idx="5">
                    <c:v>Amazon Great Summer (7 d/yr)</c:v>
                  </c:pt>
                  <c:pt idx="6">
                    <c:v>Independence Day (7 d/yr)</c:v>
                  </c:pt>
                </c:lvl>
              </c:multiLvlStrCache>
            </c:multiLvlStrRef>
          </c:cat>
          <c:val>
            <c:numRef>
              <c:f>Sheet1!$B$2:$B$8</c:f>
              <c:numCache>
                <c:formatCode>General</c:formatCode>
                <c:ptCount val="7"/>
                <c:pt idx="0">
                  <c:v>0.18</c:v>
                </c:pt>
                <c:pt idx="1">
                  <c:v>0.18</c:v>
                </c:pt>
                <c:pt idx="2">
                  <c:v>0.48</c:v>
                </c:pt>
                <c:pt idx="3">
                  <c:v>0.5</c:v>
                </c:pt>
                <c:pt idx="4">
                  <c:v>0.57</c:v>
                </c:pt>
                <c:pt idx="5">
                  <c:v>0.65</c:v>
                </c:pt>
                <c:pt idx="6">
                  <c:v>0.75</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E5E7EB"/>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Average order value (₹)</a:t>
            </a:r>
          </a:p>
        </c:rich>
      </c:tx>
      <c:layout/>
      <c:overlay val="0"/>
    </c:title>
    <c:autoTitleDeleted val="0"/>
    <c:plotArea>
      <c:layout/>
      <c:barChart>
        <c:barDir val="col"/>
        <c:grouping val="clustered"/>
        <c:varyColors val="0"/>
        <c:ser>
          <c:idx val="0"/>
          <c:order val="0"/>
          <c:tx>
            <c:strRef>
              <c:f>Sheet1!$B$1</c:f>
              <c:strCache>
                <c:ptCount val="1"/>
                <c:pt idx="0">
                  <c:v>Standard day</c:v>
                </c:pt>
              </c:strCache>
            </c:strRef>
          </c:tx>
          <c:spPr>
            <a:solidFill>
              <a:srgbClr val="1F3864"/>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Accessories</c:v>
                  </c:pt>
                  <c:pt idx="1">
                    <c:v>Clothing</c:v>
                  </c:pt>
                  <c:pt idx="2">
                    <c:v>Footwear</c:v>
                  </c:pt>
                </c:lvl>
              </c:multiLvlStrCache>
            </c:multiLvlStrRef>
          </c:cat>
          <c:val>
            <c:numRef>
              <c:f>Sheet1!$B$2:$B$4</c:f>
              <c:numCache>
                <c:formatCode>General</c:formatCode>
                <c:ptCount val="3"/>
                <c:pt idx="0">
                  <c:v>1394</c:v>
                </c:pt>
                <c:pt idx="1">
                  <c:v>1926</c:v>
                </c:pt>
                <c:pt idx="2">
                  <c:v>3173</c:v>
                </c:pt>
              </c:numCache>
            </c:numRef>
          </c:val>
        </c:ser>
        <c:ser>
          <c:idx val="1"/>
          <c:order val="1"/>
          <c:tx>
            <c:strRef>
              <c:f>Sheet1!$C$1</c:f>
              <c:strCache>
                <c:ptCount val="1"/>
                <c:pt idx="0">
                  <c:v>Sale window</c:v>
                </c:pt>
              </c:strCache>
            </c:strRef>
          </c:tx>
          <c:spPr>
            <a:solidFill>
              <a:srgbClr val="C00000"/>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Sheet1!$A$2:$A$4</c:f>
              <c:multiLvlStrCache>
                <c:ptCount val="3"/>
                <c:lvl>
                  <c:pt idx="0">
                    <c:v>Accessories</c:v>
                  </c:pt>
                  <c:pt idx="1">
                    <c:v>Clothing</c:v>
                  </c:pt>
                  <c:pt idx="2">
                    <c:v>Footwear</c:v>
                  </c:pt>
                </c:lvl>
              </c:multiLvlStrCache>
            </c:multiLvlStrRef>
          </c:cat>
          <c:val>
            <c:numRef>
              <c:f>Sheet1!$C$2:$C$4</c:f>
              <c:numCache>
                <c:formatCode>General</c:formatCode>
                <c:ptCount val="3"/>
                <c:pt idx="0">
                  <c:v>864</c:v>
                </c:pt>
                <c:pt idx="1">
                  <c:v>1150</c:v>
                </c:pt>
                <c:pt idx="2">
                  <c:v>1893</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Average review rating</a:t>
            </a:r>
          </a:p>
        </c:rich>
      </c:tx>
      <c:layout/>
      <c:overlay val="0"/>
    </c:title>
    <c:autoTitleDeleted val="0"/>
    <c:plotArea>
      <c:layout/>
      <c:barChart>
        <c:barDir val="col"/>
        <c:grouping val="clustered"/>
        <c:varyColors val="0"/>
        <c:ser>
          <c:idx val="0"/>
          <c:order val="0"/>
          <c:tx>
            <c:strRef>
              <c:f>Sheet1!$B$1</c:f>
              <c:strCache>
                <c:ptCount val="1"/>
                <c:pt idx="0">
                  <c:v>Average rating</c:v>
                </c:pt>
              </c:strCache>
            </c:strRef>
          </c:tx>
          <c:spPr>
            <a:solidFill>
              <a:srgbClr val="1F3864"/>
            </a:solidFill>
            <a:effectLst/>
          </c:spPr>
          <c:invertIfNegative val="0"/>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F3864"/>
              </a:solidFill>
              <a:effectLst/>
            </c:spPr>
          </c:dPt>
          <c:dPt>
            <c:idx val="1"/>
            <c:invertIfNegative val="0"/>
            <c:bubble3D val="0"/>
            <c:spPr>
              <a:solidFill>
                <a:srgbClr val="1F3864"/>
              </a:solidFill>
              <a:effectLst/>
            </c:spPr>
          </c:dPt>
          <c:dPt>
            <c:idx val="2"/>
            <c:invertIfNegative val="0"/>
            <c:bubble3D val="0"/>
            <c:spPr>
              <a:solidFill>
                <a:srgbClr val="1F3864"/>
              </a:solidFill>
              <a:effectLst/>
            </c:spPr>
          </c:dPt>
          <c:dPt>
            <c:idx val="3"/>
            <c:invertIfNegative val="0"/>
            <c:bubble3D val="0"/>
            <c:spPr>
              <a:solidFill>
                <a:srgbClr val="1F3864"/>
              </a:solidFill>
              <a:effectLst/>
            </c:spPr>
          </c:dPt>
          <c:dPt>
            <c:idx val="4"/>
            <c:invertIfNegative val="0"/>
            <c:bubble3D val="0"/>
            <c:spPr>
              <a:solidFill>
                <a:srgbClr val="1F3864"/>
              </a:solidFill>
              <a:effectLst/>
            </c:spPr>
          </c:dPt>
          <c:dPt>
            <c:idx val="5"/>
            <c:invertIfNegative val="0"/>
            <c:bubble3D val="0"/>
            <c:spPr>
              <a:solidFill>
                <a:srgbClr val="C00000"/>
              </a:solidFill>
              <a:effectLst/>
            </c:spPr>
          </c:dPt>
          <c:dPt>
            <c:idx val="6"/>
            <c:invertIfNegative val="0"/>
            <c:bubble3D val="0"/>
            <c:spPr>
              <a:solidFill>
                <a:srgbClr val="C00000"/>
              </a:solidFill>
              <a:effectLst/>
            </c:spPr>
          </c:dPt>
          <c:dPt>
            <c:idx val="7"/>
            <c:invertIfNegative val="0"/>
            <c:bubble3D val="0"/>
            <c:spPr>
              <a:solidFill>
                <a:srgbClr val="C00000"/>
              </a:solidFill>
              <a:effectLst/>
            </c:spPr>
          </c:dPt>
          <c:cat>
            <c:multiLvlStrRef>
              <c:f>Sheet1!$A$2:$A$9</c:f>
              <c:multiLvlStrCache>
                <c:ptCount val="8"/>
                <c:lvl>
                  <c:pt idx="0">
                    <c:v>0</c:v>
                  </c:pt>
                  <c:pt idx="1">
                    <c:v>2</c:v>
                  </c:pt>
                  <c:pt idx="2">
                    <c:v>3</c:v>
                  </c:pt>
                  <c:pt idx="3">
                    <c:v>4</c:v>
                  </c:pt>
                  <c:pt idx="4">
                    <c:v>5</c:v>
                  </c:pt>
                  <c:pt idx="5">
                    <c:v>6</c:v>
                  </c:pt>
                  <c:pt idx="6">
                    <c:v>7</c:v>
                  </c:pt>
                  <c:pt idx="7">
                    <c:v>8</c:v>
                  </c:pt>
                </c:lvl>
              </c:multiLvlStrCache>
            </c:multiLvlStrRef>
          </c:cat>
          <c:val>
            <c:numRef>
              <c:f>Sheet1!$B$2:$B$9</c:f>
              <c:numCache>
                <c:formatCode>General</c:formatCode>
                <c:ptCount val="8"/>
                <c:pt idx="0">
                  <c:v>4.15</c:v>
                </c:pt>
                <c:pt idx="1">
                  <c:v>4.19</c:v>
                </c:pt>
                <c:pt idx="2">
                  <c:v>4.06</c:v>
                </c:pt>
                <c:pt idx="3">
                  <c:v>4.04</c:v>
                </c:pt>
                <c:pt idx="4">
                  <c:v>4.03</c:v>
                </c:pt>
                <c:pt idx="5">
                  <c:v>3.42</c:v>
                </c:pt>
                <c:pt idx="6">
                  <c:v>3.4</c:v>
                </c:pt>
                <c:pt idx="7">
                  <c:v>3.44</c:v>
                </c:pt>
              </c:numCache>
            </c:numRef>
          </c:val>
        </c:ser>
        <c:dLbls>
          <c:numFmt formatCode="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000000"/>
                    </a:solidFill>
                    <a:latin typeface="Arial"/>
                  </a:defRPr>
                </a:pPr>
                <a:r>
                  <a:rPr sz="1100" b="0" i="0" u="none" strike="noStrike">
                    <a:solidFill>
                      <a:srgbClr val="000000"/>
                    </a:solidFill>
                    <a:latin typeface="Arial"/>
                  </a:rPr>
                  <a:t>Delivery days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Return rate</a:t>
            </a:r>
          </a:p>
        </c:rich>
      </c:tx>
      <c:layout/>
      <c:overlay val="0"/>
    </c:title>
    <c:autoTitleDeleted val="0"/>
    <c:plotArea>
      <c:layout/>
      <c:barChart>
        <c:barDir val="col"/>
        <c:grouping val="clustered"/>
        <c:varyColors val="0"/>
        <c:ser>
          <c:idx val="0"/>
          <c:order val="0"/>
          <c:tx>
            <c:strRef>
              <c:f>Sheet1!$B$1</c:f>
              <c:strCache>
                <c:ptCount val="1"/>
                <c:pt idx="0">
                  <c:v>Return rate</c:v>
                </c:pt>
              </c:strCache>
            </c:strRef>
          </c:tx>
          <c:spPr>
            <a:solidFill>
              <a:srgbClr val="1F3864"/>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F3864"/>
              </a:solidFill>
              <a:effectLst/>
            </c:spPr>
          </c:dPt>
          <c:dPt>
            <c:idx val="1"/>
            <c:invertIfNegative val="0"/>
            <c:bubble3D val="0"/>
            <c:spPr>
              <a:solidFill>
                <a:srgbClr val="1F3864"/>
              </a:solidFill>
              <a:effectLst/>
            </c:spPr>
          </c:dPt>
          <c:dPt>
            <c:idx val="2"/>
            <c:invertIfNegative val="0"/>
            <c:bubble3D val="0"/>
            <c:spPr>
              <a:solidFill>
                <a:srgbClr val="1F3864"/>
              </a:solidFill>
              <a:effectLst/>
            </c:spPr>
          </c:dPt>
          <c:dPt>
            <c:idx val="3"/>
            <c:invertIfNegative val="0"/>
            <c:bubble3D val="0"/>
            <c:spPr>
              <a:solidFill>
                <a:srgbClr val="1F3864"/>
              </a:solidFill>
              <a:effectLst/>
            </c:spPr>
          </c:dPt>
          <c:dPt>
            <c:idx val="4"/>
            <c:invertIfNegative val="0"/>
            <c:bubble3D val="0"/>
            <c:spPr>
              <a:solidFill>
                <a:srgbClr val="1F3864"/>
              </a:solidFill>
              <a:effectLst/>
            </c:spPr>
          </c:dPt>
          <c:dPt>
            <c:idx val="5"/>
            <c:invertIfNegative val="0"/>
            <c:bubble3D val="0"/>
            <c:spPr>
              <a:solidFill>
                <a:srgbClr val="C00000"/>
              </a:solidFill>
              <a:effectLst/>
            </c:spPr>
          </c:dPt>
          <c:dPt>
            <c:idx val="6"/>
            <c:invertIfNegative val="0"/>
            <c:bubble3D val="0"/>
            <c:spPr>
              <a:solidFill>
                <a:srgbClr val="C00000"/>
              </a:solidFill>
              <a:effectLst/>
            </c:spPr>
          </c:dPt>
          <c:dPt>
            <c:idx val="7"/>
            <c:invertIfNegative val="0"/>
            <c:bubble3D val="0"/>
            <c:spPr>
              <a:solidFill>
                <a:srgbClr val="C00000"/>
              </a:solidFill>
              <a:effectLst/>
            </c:spPr>
          </c:dPt>
          <c:cat>
            <c:multiLvlStrRef>
              <c:f>Sheet1!$A$2:$A$9</c:f>
              <c:multiLvlStrCache>
                <c:ptCount val="8"/>
                <c:lvl>
                  <c:pt idx="0">
                    <c:v>0</c:v>
                  </c:pt>
                  <c:pt idx="1">
                    <c:v>2</c:v>
                  </c:pt>
                  <c:pt idx="2">
                    <c:v>3</c:v>
                  </c:pt>
                  <c:pt idx="3">
                    <c:v>4</c:v>
                  </c:pt>
                  <c:pt idx="4">
                    <c:v>5</c:v>
                  </c:pt>
                  <c:pt idx="5">
                    <c:v>6</c:v>
                  </c:pt>
                  <c:pt idx="6">
                    <c:v>7</c:v>
                  </c:pt>
                  <c:pt idx="7">
                    <c:v>8</c:v>
                  </c:pt>
                </c:lvl>
              </c:multiLvlStrCache>
            </c:multiLvlStrRef>
          </c:cat>
          <c:val>
            <c:numRef>
              <c:f>Sheet1!$B$2:$B$9</c:f>
              <c:numCache>
                <c:formatCode>General</c:formatCode>
                <c:ptCount val="8"/>
                <c:pt idx="0">
                  <c:v>0.161</c:v>
                </c:pt>
                <c:pt idx="1">
                  <c:v>0.162</c:v>
                </c:pt>
                <c:pt idx="2">
                  <c:v>0.174</c:v>
                </c:pt>
                <c:pt idx="3">
                  <c:v>0.153</c:v>
                </c:pt>
                <c:pt idx="4">
                  <c:v>0.185</c:v>
                </c:pt>
                <c:pt idx="5">
                  <c:v>0.218</c:v>
                </c:pt>
                <c:pt idx="6">
                  <c:v>0.22</c:v>
                </c:pt>
                <c:pt idx="7">
                  <c:v>0.215</c:v>
                </c:pt>
              </c:numCache>
            </c:numRef>
          </c:val>
        </c:ser>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000000"/>
                    </a:solidFill>
                    <a:latin typeface="Arial"/>
                  </a:defRPr>
                </a:pPr>
                <a:r>
                  <a:rPr sz="1100" b="0" i="0" u="none" strike="noStrike">
                    <a:solidFill>
                      <a:srgbClr val="000000"/>
                    </a:solidFill>
                    <a:latin typeface="Arial"/>
                  </a:rPr>
                  <a:t>Delivery days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0.3"/>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Category mix is the same at every age</a:t>
            </a:r>
          </a:p>
        </c:rich>
      </c:tx>
      <c:layout/>
      <c:overlay val="0"/>
    </c:title>
    <c:autoTitleDeleted val="0"/>
    <c:plotArea>
      <c:layout/>
      <c:barChart>
        <c:barDir val="col"/>
        <c:grouping val="percentStacked"/>
        <c:varyColors val="0"/>
        <c:ser>
          <c:idx val="0"/>
          <c:order val="0"/>
          <c:tx>
            <c:strRef>
              <c:f>Sheet1!$B$1</c:f>
              <c:strCache>
                <c:ptCount val="1"/>
                <c:pt idx="0">
                  <c:v>Accessories</c:v>
                </c:pt>
              </c:strCache>
            </c:strRef>
          </c:tx>
          <c:spPr>
            <a:solidFill>
              <a:srgbClr val="9FB8AD"/>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18-25</c:v>
                  </c:pt>
                  <c:pt idx="1">
                    <c:v>26-35</c:v>
                  </c:pt>
                  <c:pt idx="2">
                    <c:v>36-45</c:v>
                  </c:pt>
                  <c:pt idx="3">
                    <c:v>46-55</c:v>
                  </c:pt>
                  <c:pt idx="4">
                    <c:v>56-59</c:v>
                  </c:pt>
                </c:lvl>
              </c:multiLvlStrCache>
            </c:multiLvlStrRef>
          </c:cat>
          <c:val>
            <c:numRef>
              <c:f>Sheet1!$B$2:$B$6</c:f>
              <c:numCache>
                <c:formatCode>General</c:formatCode>
                <c:ptCount val="5"/>
                <c:pt idx="0">
                  <c:v>0.219</c:v>
                </c:pt>
                <c:pt idx="1">
                  <c:v>0.224</c:v>
                </c:pt>
                <c:pt idx="2">
                  <c:v>0.209</c:v>
                </c:pt>
                <c:pt idx="3">
                  <c:v>0.217</c:v>
                </c:pt>
                <c:pt idx="4">
                  <c:v>0.206</c:v>
                </c:pt>
              </c:numCache>
            </c:numRef>
          </c:val>
        </c:ser>
        <c:ser>
          <c:idx val="1"/>
          <c:order val="1"/>
          <c:tx>
            <c:strRef>
              <c:f>Sheet1!$C$1</c:f>
              <c:strCache>
                <c:ptCount val="1"/>
                <c:pt idx="0">
                  <c:v>Clothing</c:v>
                </c:pt>
              </c:strCache>
            </c:strRef>
          </c:tx>
          <c:spPr>
            <a:solidFill>
              <a:srgbClr val="1F3864"/>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18-25</c:v>
                  </c:pt>
                  <c:pt idx="1">
                    <c:v>26-35</c:v>
                  </c:pt>
                  <c:pt idx="2">
                    <c:v>36-45</c:v>
                  </c:pt>
                  <c:pt idx="3">
                    <c:v>46-55</c:v>
                  </c:pt>
                  <c:pt idx="4">
                    <c:v>56-59</c:v>
                  </c:pt>
                </c:lvl>
              </c:multiLvlStrCache>
            </c:multiLvlStrRef>
          </c:cat>
          <c:val>
            <c:numRef>
              <c:f>Sheet1!$C$2:$C$6</c:f>
              <c:numCache>
                <c:formatCode>General</c:formatCode>
                <c:ptCount val="5"/>
                <c:pt idx="0">
                  <c:v>0.502</c:v>
                </c:pt>
                <c:pt idx="1">
                  <c:v>0.496</c:v>
                </c:pt>
                <c:pt idx="2">
                  <c:v>0.497</c:v>
                </c:pt>
                <c:pt idx="3">
                  <c:v>0.507</c:v>
                </c:pt>
                <c:pt idx="4">
                  <c:v>0.501</c:v>
                </c:pt>
              </c:numCache>
            </c:numRef>
          </c:val>
        </c:ser>
        <c:ser>
          <c:idx val="2"/>
          <c:order val="2"/>
          <c:tx>
            <c:strRef>
              <c:f>Sheet1!$D$1</c:f>
              <c:strCache>
                <c:ptCount val="1"/>
                <c:pt idx="0">
                  <c:v>Footwear</c:v>
                </c:pt>
              </c:strCache>
            </c:strRef>
          </c:tx>
          <c:spPr>
            <a:solidFill>
              <a:srgbClr val="C9A66B"/>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18-25</c:v>
                  </c:pt>
                  <c:pt idx="1">
                    <c:v>26-35</c:v>
                  </c:pt>
                  <c:pt idx="2">
                    <c:v>36-45</c:v>
                  </c:pt>
                  <c:pt idx="3">
                    <c:v>46-55</c:v>
                  </c:pt>
                  <c:pt idx="4">
                    <c:v>56-59</c:v>
                  </c:pt>
                </c:lvl>
              </c:multiLvlStrCache>
            </c:multiLvlStrRef>
          </c:cat>
          <c:val>
            <c:numRef>
              <c:f>Sheet1!$D$2:$D$6</c:f>
              <c:numCache>
                <c:formatCode>General</c:formatCode>
                <c:ptCount val="5"/>
                <c:pt idx="0">
                  <c:v>0.279</c:v>
                </c:pt>
                <c:pt idx="1">
                  <c:v>0.28</c:v>
                </c:pt>
                <c:pt idx="2">
                  <c:v>0.295</c:v>
                </c:pt>
                <c:pt idx="3">
                  <c:v>0.276</c:v>
                </c:pt>
                <c:pt idx="4">
                  <c:v>0.293</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0000"/>
                </a:solidFill>
                <a:latin typeface="Arial"/>
              </a:defRPr>
            </a:pPr>
            <a:r>
              <a:rPr sz="1300" b="0" i="0" u="none" strike="noStrike">
                <a:solidFill>
                  <a:srgbClr val="000000"/>
                </a:solidFill>
                <a:latin typeface="Arial"/>
              </a:rPr>
              <a:t>Traditional wear as % of clothing orders</a:t>
            </a:r>
          </a:p>
        </c:rich>
      </c:tx>
      <c:layout/>
      <c:overlay val="0"/>
    </c:title>
    <c:autoTitleDeleted val="0"/>
    <c:plotArea>
      <c:layout/>
      <c:barChart>
        <c:barDir val="col"/>
        <c:grouping val="clustered"/>
        <c:varyColors val="0"/>
        <c:ser>
          <c:idx val="0"/>
          <c:order val="0"/>
          <c:tx>
            <c:strRef>
              <c:f>Sheet1!$B$1</c:f>
              <c:strCache>
                <c:ptCount val="1"/>
                <c:pt idx="0">
                  <c:v>Traditional share of clothing orders</c:v>
                </c:pt>
              </c:strCache>
            </c:strRef>
          </c:tx>
          <c:spPr>
            <a:solidFill>
              <a:srgbClr val="BFBFBF"/>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BFBFBF"/>
              </a:solidFill>
              <a:effectLst/>
            </c:spPr>
          </c:dPt>
          <c:dPt>
            <c:idx val="1"/>
            <c:invertIfNegative val="0"/>
            <c:bubble3D val="0"/>
            <c:spPr>
              <a:solidFill>
                <a:srgbClr val="BFBFBF"/>
              </a:solidFill>
              <a:effectLst/>
            </c:spPr>
          </c:dPt>
          <c:dPt>
            <c:idx val="2"/>
            <c:invertIfNegative val="0"/>
            <c:bubble3D val="0"/>
            <c:spPr>
              <a:solidFill>
                <a:srgbClr val="BFBFBF"/>
              </a:solidFill>
              <a:effectLst/>
            </c:spPr>
          </c:dPt>
          <c:dPt>
            <c:idx val="3"/>
            <c:invertIfNegative val="0"/>
            <c:bubble3D val="0"/>
            <c:spPr>
              <a:solidFill>
                <a:srgbClr val="BFBFBF"/>
              </a:solidFill>
              <a:effectLst/>
            </c:spPr>
          </c:dPt>
          <c:dPt>
            <c:idx val="4"/>
            <c:invertIfNegative val="0"/>
            <c:bubble3D val="0"/>
            <c:spPr>
              <a:solidFill>
                <a:srgbClr val="BFBFBF"/>
              </a:solidFill>
              <a:effectLst/>
            </c:spPr>
          </c:dPt>
          <c:dPt>
            <c:idx val="5"/>
            <c:invertIfNegative val="0"/>
            <c:bubble3D val="0"/>
            <c:spPr>
              <a:solidFill>
                <a:srgbClr val="C00000"/>
              </a:solidFill>
              <a:effectLst/>
            </c:spPr>
          </c:dPt>
          <c:dPt>
            <c:idx val="6"/>
            <c:invertIfNegative val="0"/>
            <c:bubble3D val="0"/>
            <c:spPr>
              <a:solidFill>
                <a:srgbClr val="1F3864"/>
              </a:solidFill>
              <a:effectLst/>
            </c:spPr>
          </c:dPt>
          <c:cat>
            <c:multiLvlStrRef>
              <c:f>Sheet1!$A$2:$A$8</c:f>
              <c:multiLvlStrCache>
                <c:ptCount val="7"/>
                <c:lvl>
                  <c:pt idx="0">
                    <c:v>18-25</c:v>
                  </c:pt>
                  <c:pt idx="1">
                    <c:v>26-35</c:v>
                  </c:pt>
                  <c:pt idx="2">
                    <c:v>36-45</c:v>
                  </c:pt>
                  <c:pt idx="3">
                    <c:v>46-55</c:v>
                  </c:pt>
                  <c:pt idx="4">
                    <c:v>56-59</c:v>
                  </c:pt>
                  <c:pt idx="5">
                    <c:v>Female</c:v>
                  </c:pt>
                  <c:pt idx="6">
                    <c:v>Male</c:v>
                  </c:pt>
                </c:lvl>
              </c:multiLvlStrCache>
            </c:multiLvlStrRef>
          </c:cat>
          <c:val>
            <c:numRef>
              <c:f>Sheet1!$B$2:$B$8</c:f>
              <c:numCache>
                <c:formatCode>General</c:formatCode>
                <c:ptCount val="7"/>
                <c:pt idx="0">
                  <c:v>0.207</c:v>
                </c:pt>
                <c:pt idx="1">
                  <c:v>0.191</c:v>
                </c:pt>
                <c:pt idx="2">
                  <c:v>0.196</c:v>
                </c:pt>
                <c:pt idx="3">
                  <c:v>0.208</c:v>
                </c:pt>
                <c:pt idx="4">
                  <c:v>0.235</c:v>
                </c:pt>
                <c:pt idx="5">
                  <c:v>0.408</c:v>
                </c:pt>
                <c:pt idx="6">
                  <c:v>0.038</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0.5"/>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 of customers</c:v>
                </c:pt>
              </c:strCache>
            </c:strRef>
          </c:tx>
          <c:spPr>
            <a:solidFill>
              <a:srgbClr val="9FB8AD"/>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Champions</c:v>
                  </c:pt>
                  <c:pt idx="1">
                    <c:v>Loyal Customers</c:v>
                  </c:pt>
                  <c:pt idx="2">
                    <c:v>Potential Loyalists</c:v>
                  </c:pt>
                  <c:pt idx="3">
                    <c:v>At Risk</c:v>
                  </c:pt>
                  <c:pt idx="4">
                    <c:v>Lost/Hibernating</c:v>
                  </c:pt>
                </c:lvl>
              </c:multiLvlStrCache>
            </c:multiLvlStrRef>
          </c:cat>
          <c:val>
            <c:numRef>
              <c:f>Sheet1!$B$2:$B$6</c:f>
              <c:numCache>
                <c:formatCode>General</c:formatCode>
                <c:ptCount val="5"/>
                <c:pt idx="0">
                  <c:v>0.284</c:v>
                </c:pt>
                <c:pt idx="1">
                  <c:v>0.224</c:v>
                </c:pt>
                <c:pt idx="2">
                  <c:v>0.202</c:v>
                </c:pt>
                <c:pt idx="3">
                  <c:v>0.192</c:v>
                </c:pt>
                <c:pt idx="4">
                  <c:v>0.098</c:v>
                </c:pt>
              </c:numCache>
            </c:numRef>
          </c:val>
        </c:ser>
        <c:ser>
          <c:idx val="1"/>
          <c:order val="1"/>
          <c:tx>
            <c:strRef>
              <c:f>Sheet1!$C$1</c:f>
              <c:strCache>
                <c:ptCount val="1"/>
                <c:pt idx="0">
                  <c:v>% of revenue</c:v>
                </c:pt>
              </c:strCache>
            </c:strRef>
          </c:tx>
          <c:spPr>
            <a:solidFill>
              <a:srgbClr val="1F3864"/>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Sheet1!$A$2:$A$6</c:f>
              <c:multiLvlStrCache>
                <c:ptCount val="5"/>
                <c:lvl>
                  <c:pt idx="0">
                    <c:v>Champions</c:v>
                  </c:pt>
                  <c:pt idx="1">
                    <c:v>Loyal Customers</c:v>
                  </c:pt>
                  <c:pt idx="2">
                    <c:v>Potential Loyalists</c:v>
                  </c:pt>
                  <c:pt idx="3">
                    <c:v>At Risk</c:v>
                  </c:pt>
                  <c:pt idx="4">
                    <c:v>Lost/Hibernating</c:v>
                  </c:pt>
                </c:lvl>
              </c:multiLvlStrCache>
            </c:multiLvlStrRef>
          </c:cat>
          <c:val>
            <c:numRef>
              <c:f>Sheet1!$C$2:$C$6</c:f>
              <c:numCache>
                <c:formatCode>General</c:formatCode>
                <c:ptCount val="5"/>
                <c:pt idx="0">
                  <c:v>0.631</c:v>
                </c:pt>
                <c:pt idx="1">
                  <c:v>0.202</c:v>
                </c:pt>
                <c:pt idx="2">
                  <c:v>0.104</c:v>
                </c:pt>
                <c:pt idx="3">
                  <c:v>0.053</c:v>
                </c:pt>
                <c:pt idx="4">
                  <c:v>0.012</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New customers</c:v>
                </c:pt>
              </c:strCache>
            </c:strRef>
          </c:tx>
          <c:spPr>
            <a:solidFill>
              <a:srgbClr val="1F3864"/>
            </a:solidFill>
            <a:ln w="38100" cap="flat">
              <a:solidFill>
                <a:srgbClr val="1F386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F3864"/>
              </a:solidFill>
              <a:ln w="9525" cap="flat">
                <a:solidFill>
                  <a:srgbClr val="1F3864"/>
                </a:solidFill>
                <a:prstDash val="solid"/>
                <a:round/>
              </a:ln>
              <a:effectLst/>
            </c:spPr>
          </c:marker>
          <c:cat>
            <c:multiLvlStrRef>
              <c:f>Sheet1!$A$2:$A$25</c:f>
              <c:multiLvlStrCache>
                <c:ptCount val="24"/>
                <c:lvl>
                  <c:pt idx="0">
                    <c:v>Jan-23</c:v>
                  </c:pt>
                  <c:pt idx="1">
                    <c:v>Feb-23</c:v>
                  </c:pt>
                  <c:pt idx="2">
                    <c:v>Mar-23</c:v>
                  </c:pt>
                  <c:pt idx="3">
                    <c:v>Apr-23</c:v>
                  </c:pt>
                  <c:pt idx="4">
                    <c:v>May-23</c:v>
                  </c:pt>
                  <c:pt idx="5">
                    <c:v>Jun-23</c:v>
                  </c:pt>
                  <c:pt idx="6">
                    <c:v>Jul-23</c:v>
                  </c:pt>
                  <c:pt idx="7">
                    <c:v>Aug-23</c:v>
                  </c:pt>
                  <c:pt idx="8">
                    <c:v>Sep-23</c:v>
                  </c:pt>
                  <c:pt idx="9">
                    <c:v>Oct-23</c:v>
                  </c:pt>
                  <c:pt idx="10">
                    <c:v>Nov-23</c:v>
                  </c:pt>
                  <c:pt idx="11">
                    <c:v>Dec-23</c:v>
                  </c:pt>
                  <c:pt idx="12">
                    <c:v>Jan-24</c:v>
                  </c:pt>
                  <c:pt idx="13">
                    <c:v>Feb-24</c:v>
                  </c:pt>
                  <c:pt idx="14">
                    <c:v>Mar-24</c:v>
                  </c:pt>
                  <c:pt idx="15">
                    <c:v>Apr-24</c:v>
                  </c:pt>
                  <c:pt idx="16">
                    <c:v>May-24</c:v>
                  </c:pt>
                  <c:pt idx="17">
                    <c:v>Jun-24</c:v>
                  </c:pt>
                  <c:pt idx="18">
                    <c:v>Jul-24</c:v>
                  </c:pt>
                  <c:pt idx="19">
                    <c:v>Aug-24</c:v>
                  </c:pt>
                  <c:pt idx="20">
                    <c:v>Sep-24</c:v>
                  </c:pt>
                  <c:pt idx="21">
                    <c:v>Oct-24</c:v>
                  </c:pt>
                  <c:pt idx="22">
                    <c:v>Nov-24</c:v>
                  </c:pt>
                  <c:pt idx="23">
                    <c:v>Dec-24</c:v>
                  </c:pt>
                </c:lvl>
              </c:multiLvlStrCache>
            </c:multiLvlStrRef>
          </c:cat>
          <c:val>
            <c:numRef>
              <c:f>Sheet1!$B$2:$B$25</c:f>
              <c:numCache>
                <c:formatCode>General</c:formatCode>
                <c:ptCount val="24"/>
                <c:pt idx="0">
                  <c:v>394</c:v>
                </c:pt>
                <c:pt idx="1">
                  <c:v>222</c:v>
                </c:pt>
                <c:pt idx="2">
                  <c:v>288</c:v>
                </c:pt>
                <c:pt idx="3">
                  <c:v>150</c:v>
                </c:pt>
                <c:pt idx="4">
                  <c:v>204</c:v>
                </c:pt>
                <c:pt idx="5">
                  <c:v>125</c:v>
                </c:pt>
                <c:pt idx="6">
                  <c:v>124</c:v>
                </c:pt>
                <c:pt idx="7">
                  <c:v>137</c:v>
                </c:pt>
                <c:pt idx="8">
                  <c:v>82</c:v>
                </c:pt>
                <c:pt idx="9">
                  <c:v>97</c:v>
                </c:pt>
                <c:pt idx="10">
                  <c:v>110</c:v>
                </c:pt>
                <c:pt idx="11">
                  <c:v>78</c:v>
                </c:pt>
                <c:pt idx="12">
                  <c:v>69</c:v>
                </c:pt>
                <c:pt idx="13">
                  <c:v>46</c:v>
                </c:pt>
                <c:pt idx="14">
                  <c:v>82</c:v>
                </c:pt>
                <c:pt idx="15">
                  <c:v>41</c:v>
                </c:pt>
                <c:pt idx="16">
                  <c:v>71</c:v>
                </c:pt>
                <c:pt idx="17">
                  <c:v>36</c:v>
                </c:pt>
                <c:pt idx="18">
                  <c:v>30</c:v>
                </c:pt>
                <c:pt idx="19">
                  <c:v>56</c:v>
                </c:pt>
                <c:pt idx="20">
                  <c:v>25</c:v>
                </c:pt>
                <c:pt idx="21">
                  <c:v>43</c:v>
                </c:pt>
                <c:pt idx="22">
                  <c:v>42</c:v>
                </c:pt>
                <c:pt idx="23">
                  <c:v>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rot="2700000"/>
          <a:lstStyle/>
          <a:p>
            <a:pPr>
              <a:defRPr sz="1000" b="0" i="0" u="none" strike="noStrike">
                <a:solidFill>
                  <a:srgbClr val="595959"/>
                </a:solidFill>
                <a:latin typeface="Arial"/>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5E7E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review covers two years of retail and e-commerce orders: 10,000 orders from 2,581 customers. We look at four things: how revenue behaves over time and during sales, how delivery speed affects ratings and returns, who buys what, and how customers segment by recency, frequency and spend. We finish with thirteen recommendations and a 90-day plan. One note up front: the dataset is synthetic, built for analytical practice, so the findings describe this dataset rather than a live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is that revenue is flat. Total revenue was ₹18.90M; 2024 came in 1.4% below 2023. The return rate of 18.0% is high, and the average rating is 3.87 out of 5. Underneath the flat line, existing customers are carrying the business: 83% of 2024 revenue came from people who were already customers in 2023, while the number of customers placing a first order fell from 2,011 to 570. I will come back to that caveat later, because part of that pattern can be an artefact of synthetic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five things, remember these. One: delivery beyond five days sharply lowers ratings and raises returns, and that is something operations can fix. Two: sales bring more orders, but those orders are about forty percent smaller, so revenue lifts much less than order counts. Three: what people buy depends on gender, not age. Four: 28% of customers produce 63% of revenue. Five: the number of new customers has dropped by roughly seventy percent between 2023 and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analysis I audited the file. Most blanks are structural: offline orders have no platform and no delivery speed, orders outside a sale have no festival, and accessories have no size. I filled those with explicit labels rather than leaving gaps. One genuine rule violation: every Same Day order showed one day, but Same Day should be zero, so I corrected 558 rows. Four problems I could not fix without inventing data, such as discounts being lower on sale orders than on normal days. That is why I will not make claims about sale profitability. The SQL script reproduces every cleaning step and produces an identical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revenue moves between about ₹666K and ₹910K with no upward trend: 2024 was 1.4% below 2023. The peaks are in months with a sale event: March has Holi, May has the Amazon summer sale and August has Independence Day. Across the 24 months, the share of orders placed in sale windows tracks monthly order volume almost perfectly, a correlation of 0.96. For 2025 we use last year's month multiplied by the 2024-to-2023 ratio. In a back-test on 2024 this method was off by about 6% per month, better than a straight-line trend at 8%. It assumes new-customer inflow does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 windows are 16% of the days but 32% of orders. Revenue per day is up 44%, but orders per day are up 143%. The gap exists because the average sale order is ₹1,286 against ₹2,175 on a standard day, and it is the same in every category. Quantity and mix are the same, so the price per unit is lower. We found no revenue dip in the two weeks after sales, so they are not just pulling demand forward. Across seven events, the longer ones deliver a weaker daily lift: a correlation of -0.92. That is only seven data points, so treat it as something to test. Important caveat: we have no cost data and the discount column is unreliable, so we cannot say whether sales make or lose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clearest operational finding. For deliveries of zero to five days, ratings stay between about 4.0 and 4.2. At six days they fall to about 3.4 and stay there. Return rates step up from the high teens to about twenty-two percent at the same point. It is a cliff, not a gradual slope, which makes it a clean target for a service-level agreement. 3,007 online orders, 39%, fall on the wrong side of the line. Note that no online order was delivered in exactly one day; day zero is Same Day orders.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fair challenge is whether this is just the Standard tier being worse, or a product-mix effect. All six-plus day orders are Standard tier, so we compared inside that tier: Standard orders delivered in five days or fewer rate 4.04; those taking six or more rate 3.42. We also split by category, and the gap appears in accessories, clothing and footwear alike. The cost of late delivery in returned revenue is about ₹299K over two years, 1.6% of sales. The bigger prize is the rating gap on 39% of online orders. Overall, 18.6% of sales value is returned, and returns are highest on Ajio, with Myntra and Shein close behind, and in clothing and footwear.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expect age to drive category choice, so we tested it. In every age bracket, about half of orders are clothing, 28 percent footwear and 22 percent accessories; the statistical test finds no difference. Western versus traditional wear shows the same: traditional wear, meaning kurtas and sarees, is between 19 and 23 percent of clothing orders at every age. What does matter is gender: 41% of women's clothing orders are traditional against 4% of men's. So campaigns should be targeted by gender and category, not age bands. Footwear is the value category, and the seven big metros account for about 65% of revenue. Delhi has as many customers as the other metros but each orders about eighteen percent less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customer is scored from one to four on recency, frequency and spend, and the scores are added. Recency and spend use quartiles; frequency uses fixed bins because 28% of customers ordered only once, which would collapse quartiles. Champions are 732 customers, 28% of the base, with about eight orders each and ₹16,279 average spend; they produce 63% of revenue. At the other end, 748 customers are At Risk or Lost, holding ₹1.21M of historical spend. A useful extra signal: customers who say they shop weekly or fortnightly are very reliable, and 379 of them have been silent longer than the median customer. That is a ready-made win-back list. Subscribers are not better customers: orders and spend are statistically the same as non-subscribers.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explains why revenue is flat. About 73% of the customers who were active in 2023 ordered again in 2024, which is a strong retention figure, and they produced ₹7.79M of the ₹9.38M of 2024 revenue. But the number of customers placing a first order fell from 2,011 in 2023 to 570 in 2024, and monthly new customers dropped from 394 in January 2023 to 29 in December 2024. I want to be careful: the dataset starts in January 2023 with no earlier history, and in synthetic data a fixed pool of customers naturally produces this kind of declining curve. So the first action is to check this against real acquisition numbers. If it holds, it is the biggest long-term risk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risk side, the main long-term risk is the falling inflow of new customers; the main near-term one is the late-delivery tail. Revenue is also concentrated in a core group, returns take back about nineteen percent of sales value, and we cannot currently see margin. The subscription programme waives roughly one hundred and ten thousand rupees of shipping with no measurable change in subscriber behaviour. On the opportunity side, every item is tied to a number we can track, and most can be started without new technology: delivery SLAs, win-back lists and sale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six are the ones to start now. One: set and monitor a five-day delivery ceiling. Two: restart customer acquisition, after confirming the decline against real data. Three: run the win-back as a proper test with a hold-out group so we learn the real response rate, starting with frequent shoppers who have gone quiet. Four: protect the Champions with priority service and an early-warning alert. Five: fix the source-data issues, because without them we cannot do margin analysis. Six: test the subscription programme before expanding it, since the data shows no lift in orders, spend or satisfaction.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remaining seven improve performance once the basics are in place: judge sales on margin and test seven-day events; cut returns on Ajio, Myntra and in apparel by collecting return reasons and improving size guidance; target traditional wear by gender instead of age; bundle low-return accessories with footwear and clothing; close the Delhi frequency gap; use the 2025 baseline forecast of about nine point two six million for planning; and use customers' declared shopping frequency as an early-warning signal in CRM.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practical sequence. In the first thirty days we agree the delivery standard and start tracking it, ask for cost and return-reason data so we can move from revenue to margin, and confirm the new-customer decline with real data. By sixty days we run the win-back pilot with a hold-out group and design the subscription test. By ninety days we have tested a shorter sale event, compared our first forecast with actuals, and set acquisition targets. I would suggest we review progress at each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the numbers in this deck can be traced: the Excel workbook recalculates every table with live formulas from the cleaned data, and the SQL script repeats the cleaning and analysis. I am happy to take questions, and to go deeper on any of the thirteen recommendations. A reminder that this dataset is synthetic, so the patterns reflect how it was built; the method, however, is exactly what I would apply to live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731520" y="3246120"/>
            <a:ext cx="1463040" cy="64008"/>
          </a:xfrm>
          <a:prstGeom prst="rect">
            <a:avLst/>
          </a:prstGeom>
          <a:solidFill>
            <a:srgbClr val="C9A66B"/>
          </a:solidFill>
          <a:ln w="12700">
            <a:solidFill>
              <a:srgbClr val="C9A66B"/>
            </a:solidFill>
            <a:prstDash val="solid"/>
          </a:ln>
        </p:spPr>
      </p:sp>
      <p:sp>
        <p:nvSpPr>
          <p:cNvPr id="3" name="Text 1"/>
          <p:cNvSpPr/>
          <p:nvPr/>
        </p:nvSpPr>
        <p:spPr>
          <a:xfrm>
            <a:off x="731520" y="1920240"/>
            <a:ext cx="10725912" cy="91440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Customer Shopping Trends</a:t>
            </a:r>
            <a:endParaRPr lang="en-US" sz="4400" dirty="0"/>
          </a:p>
        </p:txBody>
      </p:sp>
      <p:sp>
        <p:nvSpPr>
          <p:cNvPr id="4" name="Text 2"/>
          <p:cNvSpPr/>
          <p:nvPr/>
        </p:nvSpPr>
        <p:spPr>
          <a:xfrm>
            <a:off x="731520" y="2697480"/>
            <a:ext cx="10725912" cy="457200"/>
          </a:xfrm>
          <a:prstGeom prst="rect">
            <a:avLst/>
          </a:prstGeom>
          <a:noFill/>
          <a:ln/>
        </p:spPr>
        <p:txBody>
          <a:bodyPr wrap="square" lIns="0" tIns="0" rIns="0" bIns="0" rtlCol="0" anchor="ctr"/>
          <a:lstStyle/>
          <a:p>
            <a:pPr indent="0" marL="0">
              <a:buNone/>
            </a:pPr>
            <a:r>
              <a:rPr lang="en-US" sz="2000" dirty="0">
                <a:solidFill>
                  <a:srgbClr val="C9D2E0"/>
                </a:solidFill>
                <a:latin typeface="Calibri" pitchFamily="34" charset="0"/>
                <a:ea typeface="Calibri" pitchFamily="34" charset="-122"/>
                <a:cs typeface="Calibri" pitchFamily="34" charset="-120"/>
              </a:rPr>
              <a:t>Executive business intelligence review — Indian retail &amp; e-commerce</a:t>
            </a:r>
            <a:endParaRPr lang="en-US" sz="2000" dirty="0"/>
          </a:p>
        </p:txBody>
      </p:sp>
      <p:sp>
        <p:nvSpPr>
          <p:cNvPr id="5" name="Text 3"/>
          <p:cNvSpPr/>
          <p:nvPr/>
        </p:nvSpPr>
        <p:spPr>
          <a:xfrm>
            <a:off x="731520" y="3520440"/>
            <a:ext cx="10725912" cy="365760"/>
          </a:xfrm>
          <a:prstGeom prst="rect">
            <a:avLst/>
          </a:prstGeom>
          <a:noFill/>
          <a:ln/>
        </p:spPr>
        <p:txBody>
          <a:bodyPr wrap="square" lIns="0" tIns="0" rIns="0" bIns="0" rtlCol="0" anchor="ctr"/>
          <a:lstStyle/>
          <a:p>
            <a:pPr indent="0" marL="0">
              <a:buNone/>
            </a:pPr>
            <a:r>
              <a:rPr lang="en-US" sz="1500" dirty="0">
                <a:solidFill>
                  <a:srgbClr val="C9A66B"/>
                </a:solidFill>
                <a:latin typeface="Calibri" pitchFamily="34" charset="0"/>
                <a:ea typeface="Calibri" pitchFamily="34" charset="-122"/>
                <a:cs typeface="Calibri" pitchFamily="34" charset="-120"/>
              </a:rPr>
              <a:t>10,000 orders  ·  2,581 customers  ·  January 2023 – December 2024</a:t>
            </a:r>
            <a:endParaRPr lang="en-US" sz="1500" dirty="0"/>
          </a:p>
        </p:txBody>
      </p:sp>
      <p:sp>
        <p:nvSpPr>
          <p:cNvPr id="6" name="Text 4"/>
          <p:cNvSpPr/>
          <p:nvPr/>
        </p:nvSpPr>
        <p:spPr>
          <a:xfrm>
            <a:off x="731520" y="6035040"/>
            <a:ext cx="7315200" cy="320040"/>
          </a:xfrm>
          <a:prstGeom prst="rect">
            <a:avLst/>
          </a:prstGeom>
          <a:noFill/>
          <a:ln/>
        </p:spPr>
        <p:txBody>
          <a:bodyPr wrap="square" lIns="0" tIns="0" rIns="0" bIns="0" rtlCol="0" anchor="ctr"/>
          <a:lstStyle/>
          <a:p>
            <a:pPr indent="0" marL="0">
              <a:buNone/>
            </a:pPr>
            <a:r>
              <a:rPr lang="en-US" sz="1200" dirty="0">
                <a:solidFill>
                  <a:srgbClr val="8FA0BC"/>
                </a:solidFill>
                <a:latin typeface="Calibri" pitchFamily="34" charset="0"/>
                <a:ea typeface="Calibri" pitchFamily="34" charset="-122"/>
                <a:cs typeface="Calibri" pitchFamily="34" charset="-120"/>
              </a:rPr>
              <a:t>Prepared for senior management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F3864"/>
          </a:solidFill>
          <a:ln w="12700">
            <a:solidFill>
              <a:srgbClr val="1F3864"/>
            </a:solidFill>
            <a:prstDash val="solid"/>
          </a:ln>
        </p:spPr>
      </p:sp>
      <p:sp>
        <p:nvSpPr>
          <p:cNvPr id="3" name="Text 1"/>
          <p:cNvSpPr/>
          <p:nvPr/>
        </p:nvSpPr>
        <p:spPr>
          <a:xfrm>
            <a:off x="457200" y="109728"/>
            <a:ext cx="11274552"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Revenue is flat, and a loyal core is holding it up</a:t>
            </a:r>
            <a:endParaRPr lang="en-US" sz="2400" dirty="0"/>
          </a:p>
        </p:txBody>
      </p:sp>
      <p:sp>
        <p:nvSpPr>
          <p:cNvPr id="4" name="Text 2"/>
          <p:cNvSpPr/>
          <p:nvPr/>
        </p:nvSpPr>
        <p:spPr>
          <a:xfrm>
            <a:off x="457200" y="658368"/>
            <a:ext cx="11274552" cy="310896"/>
          </a:xfrm>
          <a:prstGeom prst="rect">
            <a:avLst/>
          </a:prstGeom>
          <a:noFill/>
          <a:ln/>
        </p:spPr>
        <p:txBody>
          <a:bodyPr wrap="square" lIns="0" tIns="0" rIns="0" bIns="0" rtlCol="0" anchor="ctr"/>
          <a:lstStyle/>
          <a:p>
            <a:pPr indent="0" marL="0">
              <a:buNone/>
            </a:pPr>
            <a:r>
              <a:rPr lang="en-US" sz="1300" i="1" dirty="0">
                <a:solidFill>
                  <a:srgbClr val="C9D2E0"/>
                </a:solidFill>
                <a:latin typeface="Calibri" pitchFamily="34" charset="0"/>
                <a:ea typeface="Calibri" pitchFamily="34" charset="-122"/>
                <a:cs typeface="Calibri" pitchFamily="34" charset="-120"/>
              </a:rPr>
              <a:t>Headline numbers, January 2023 – December 2024</a:t>
            </a:r>
            <a:endParaRPr lang="en-US" sz="1300" dirty="0"/>
          </a:p>
        </p:txBody>
      </p:sp>
      <p:sp>
        <p:nvSpPr>
          <p:cNvPr id="5" name="Text 3"/>
          <p:cNvSpPr/>
          <p:nvPr/>
        </p:nvSpPr>
        <p:spPr>
          <a:xfrm>
            <a:off x="457200" y="6510528"/>
            <a:ext cx="64008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Customer Shopping Trends — Executive BI</a:t>
            </a:r>
            <a:endParaRPr lang="en-US" sz="900" dirty="0"/>
          </a:p>
        </p:txBody>
      </p:sp>
      <p:sp>
        <p:nvSpPr>
          <p:cNvPr id="6" name="Text 4"/>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2</a:t>
            </a:r>
            <a:endParaRPr lang="en-US" sz="900" dirty="0"/>
          </a:p>
        </p:txBody>
      </p:sp>
      <p:sp>
        <p:nvSpPr>
          <p:cNvPr id="7" name="Shape 5"/>
          <p:cNvSpPr/>
          <p:nvPr/>
        </p:nvSpPr>
        <p:spPr>
          <a:xfrm>
            <a:off x="502920" y="1417320"/>
            <a:ext cx="3520440" cy="1371600"/>
          </a:xfrm>
          <a:prstGeom prst="rect">
            <a:avLst/>
          </a:prstGeom>
          <a:solidFill>
            <a:srgbClr val="F2F4F7"/>
          </a:solidFill>
          <a:ln w="9525">
            <a:solidFill>
              <a:srgbClr val="E3E7ED"/>
            </a:solidFill>
            <a:prstDash val="solid"/>
          </a:ln>
        </p:spPr>
      </p:sp>
      <p:sp>
        <p:nvSpPr>
          <p:cNvPr id="8" name="Text 6"/>
          <p:cNvSpPr/>
          <p:nvPr/>
        </p:nvSpPr>
        <p:spPr>
          <a:xfrm>
            <a:off x="502920" y="1527048"/>
            <a:ext cx="3520440" cy="713232"/>
          </a:xfrm>
          <a:prstGeom prst="rect">
            <a:avLst/>
          </a:prstGeom>
          <a:noFill/>
          <a:ln/>
        </p:spPr>
        <p:txBody>
          <a:bodyPr wrap="square" lIns="0" tIns="0" rIns="0" bIns="0"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₹18.90M</a:t>
            </a:r>
            <a:endParaRPr lang="en-US" sz="2800" dirty="0"/>
          </a:p>
        </p:txBody>
      </p:sp>
      <p:sp>
        <p:nvSpPr>
          <p:cNvPr id="9" name="Text 7"/>
          <p:cNvSpPr/>
          <p:nvPr/>
        </p:nvSpPr>
        <p:spPr>
          <a:xfrm>
            <a:off x="594360" y="2212848"/>
            <a:ext cx="3337560" cy="493776"/>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Total revenue</a:t>
            </a:r>
            <a:endParaRPr lang="en-US" sz="1200" dirty="0"/>
          </a:p>
        </p:txBody>
      </p:sp>
      <p:sp>
        <p:nvSpPr>
          <p:cNvPr id="10" name="Shape 8"/>
          <p:cNvSpPr/>
          <p:nvPr/>
        </p:nvSpPr>
        <p:spPr>
          <a:xfrm>
            <a:off x="4251960" y="1417320"/>
            <a:ext cx="3520440" cy="1371600"/>
          </a:xfrm>
          <a:prstGeom prst="rect">
            <a:avLst/>
          </a:prstGeom>
          <a:solidFill>
            <a:srgbClr val="F2F4F7"/>
          </a:solidFill>
          <a:ln w="9525">
            <a:solidFill>
              <a:srgbClr val="E3E7ED"/>
            </a:solidFill>
            <a:prstDash val="solid"/>
          </a:ln>
        </p:spPr>
      </p:sp>
      <p:sp>
        <p:nvSpPr>
          <p:cNvPr id="11" name="Text 9"/>
          <p:cNvSpPr/>
          <p:nvPr/>
        </p:nvSpPr>
        <p:spPr>
          <a:xfrm>
            <a:off x="4251960" y="1527048"/>
            <a:ext cx="3520440" cy="713232"/>
          </a:xfrm>
          <a:prstGeom prst="rect">
            <a:avLst/>
          </a:prstGeom>
          <a:noFill/>
          <a:ln/>
        </p:spPr>
        <p:txBody>
          <a:bodyPr wrap="square" lIns="0" tIns="0" rIns="0" bIns="0"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10,000</a:t>
            </a:r>
            <a:endParaRPr lang="en-US" sz="2800" dirty="0"/>
          </a:p>
        </p:txBody>
      </p:sp>
      <p:sp>
        <p:nvSpPr>
          <p:cNvPr id="12" name="Text 10"/>
          <p:cNvSpPr/>
          <p:nvPr/>
        </p:nvSpPr>
        <p:spPr>
          <a:xfrm>
            <a:off x="4343400" y="2212848"/>
            <a:ext cx="3337560" cy="493776"/>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Orders</a:t>
            </a:r>
            <a:endParaRPr lang="en-US" sz="1200" dirty="0"/>
          </a:p>
        </p:txBody>
      </p:sp>
      <p:sp>
        <p:nvSpPr>
          <p:cNvPr id="13" name="Shape 11"/>
          <p:cNvSpPr/>
          <p:nvPr/>
        </p:nvSpPr>
        <p:spPr>
          <a:xfrm>
            <a:off x="8001000" y="1417320"/>
            <a:ext cx="3520440" cy="1371600"/>
          </a:xfrm>
          <a:prstGeom prst="rect">
            <a:avLst/>
          </a:prstGeom>
          <a:solidFill>
            <a:srgbClr val="F2F4F7"/>
          </a:solidFill>
          <a:ln w="9525">
            <a:solidFill>
              <a:srgbClr val="E3E7ED"/>
            </a:solidFill>
            <a:prstDash val="solid"/>
          </a:ln>
        </p:spPr>
      </p:sp>
      <p:sp>
        <p:nvSpPr>
          <p:cNvPr id="14" name="Text 12"/>
          <p:cNvSpPr/>
          <p:nvPr/>
        </p:nvSpPr>
        <p:spPr>
          <a:xfrm>
            <a:off x="8001000" y="1527048"/>
            <a:ext cx="3520440" cy="713232"/>
          </a:xfrm>
          <a:prstGeom prst="rect">
            <a:avLst/>
          </a:prstGeom>
          <a:noFill/>
          <a:ln/>
        </p:spPr>
        <p:txBody>
          <a:bodyPr wrap="square" lIns="0" tIns="0" rIns="0" bIns="0"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2,581</a:t>
            </a:r>
            <a:endParaRPr lang="en-US" sz="2800" dirty="0"/>
          </a:p>
        </p:txBody>
      </p:sp>
      <p:sp>
        <p:nvSpPr>
          <p:cNvPr id="15" name="Text 13"/>
          <p:cNvSpPr/>
          <p:nvPr/>
        </p:nvSpPr>
        <p:spPr>
          <a:xfrm>
            <a:off x="8092440" y="2212848"/>
            <a:ext cx="3337560" cy="493776"/>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Customers</a:t>
            </a:r>
            <a:endParaRPr lang="en-US" sz="1200" dirty="0"/>
          </a:p>
        </p:txBody>
      </p:sp>
      <p:sp>
        <p:nvSpPr>
          <p:cNvPr id="16" name="Shape 14"/>
          <p:cNvSpPr/>
          <p:nvPr/>
        </p:nvSpPr>
        <p:spPr>
          <a:xfrm>
            <a:off x="502920" y="3017520"/>
            <a:ext cx="3520440" cy="1371600"/>
          </a:xfrm>
          <a:prstGeom prst="rect">
            <a:avLst/>
          </a:prstGeom>
          <a:solidFill>
            <a:srgbClr val="F2F4F7"/>
          </a:solidFill>
          <a:ln w="9525">
            <a:solidFill>
              <a:srgbClr val="E3E7ED"/>
            </a:solidFill>
            <a:prstDash val="solid"/>
          </a:ln>
        </p:spPr>
      </p:sp>
      <p:sp>
        <p:nvSpPr>
          <p:cNvPr id="17" name="Text 15"/>
          <p:cNvSpPr/>
          <p:nvPr/>
        </p:nvSpPr>
        <p:spPr>
          <a:xfrm>
            <a:off x="502920" y="3127248"/>
            <a:ext cx="3520440" cy="713232"/>
          </a:xfrm>
          <a:prstGeom prst="rect">
            <a:avLst/>
          </a:prstGeom>
          <a:noFill/>
          <a:ln/>
        </p:spPr>
        <p:txBody>
          <a:bodyPr wrap="square" lIns="0" tIns="0" rIns="0" bIns="0"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₹1,890</a:t>
            </a:r>
            <a:endParaRPr lang="en-US" sz="2800" dirty="0"/>
          </a:p>
        </p:txBody>
      </p:sp>
      <p:sp>
        <p:nvSpPr>
          <p:cNvPr id="18" name="Text 16"/>
          <p:cNvSpPr/>
          <p:nvPr/>
        </p:nvSpPr>
        <p:spPr>
          <a:xfrm>
            <a:off x="594360" y="3813048"/>
            <a:ext cx="3337560" cy="493776"/>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Average order value</a:t>
            </a:r>
            <a:endParaRPr lang="en-US" sz="1200" dirty="0"/>
          </a:p>
        </p:txBody>
      </p:sp>
      <p:sp>
        <p:nvSpPr>
          <p:cNvPr id="19" name="Shape 17"/>
          <p:cNvSpPr/>
          <p:nvPr/>
        </p:nvSpPr>
        <p:spPr>
          <a:xfrm>
            <a:off x="4251960" y="3017520"/>
            <a:ext cx="3520440" cy="1371600"/>
          </a:xfrm>
          <a:prstGeom prst="rect">
            <a:avLst/>
          </a:prstGeom>
          <a:solidFill>
            <a:srgbClr val="F2F4F7"/>
          </a:solidFill>
          <a:ln w="9525">
            <a:solidFill>
              <a:srgbClr val="E3E7ED"/>
            </a:solidFill>
            <a:prstDash val="solid"/>
          </a:ln>
        </p:spPr>
      </p:sp>
      <p:sp>
        <p:nvSpPr>
          <p:cNvPr id="20" name="Text 18"/>
          <p:cNvSpPr/>
          <p:nvPr/>
        </p:nvSpPr>
        <p:spPr>
          <a:xfrm>
            <a:off x="4251960" y="3127248"/>
            <a:ext cx="3520440" cy="713232"/>
          </a:xfrm>
          <a:prstGeom prst="rect">
            <a:avLst/>
          </a:prstGeom>
          <a:noFill/>
          <a:ln/>
        </p:spPr>
        <p:txBody>
          <a:bodyPr wrap="square" lIns="0" tIns="0" rIns="0" bIns="0" rtlCol="0" anchor="ctr"/>
          <a:lstStyle/>
          <a:p>
            <a:pPr algn="ctr" indent="0" marL="0">
              <a:buNone/>
            </a:pPr>
            <a:r>
              <a:rPr lang="en-US" sz="2800" b="1" dirty="0">
                <a:solidFill>
                  <a:srgbClr val="C00000"/>
                </a:solidFill>
                <a:latin typeface="Calibri" pitchFamily="34" charset="0"/>
                <a:ea typeface="Calibri" pitchFamily="34" charset="-122"/>
                <a:cs typeface="Calibri" pitchFamily="34" charset="-120"/>
              </a:rPr>
              <a:t>18.0%</a:t>
            </a:r>
            <a:endParaRPr lang="en-US" sz="2800" dirty="0"/>
          </a:p>
        </p:txBody>
      </p:sp>
      <p:sp>
        <p:nvSpPr>
          <p:cNvPr id="21" name="Text 19"/>
          <p:cNvSpPr/>
          <p:nvPr/>
        </p:nvSpPr>
        <p:spPr>
          <a:xfrm>
            <a:off x="4343400" y="3813048"/>
            <a:ext cx="3337560" cy="493776"/>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Return rate</a:t>
            </a:r>
            <a:endParaRPr lang="en-US" sz="1200" dirty="0"/>
          </a:p>
        </p:txBody>
      </p:sp>
      <p:sp>
        <p:nvSpPr>
          <p:cNvPr id="22" name="Shape 20"/>
          <p:cNvSpPr/>
          <p:nvPr/>
        </p:nvSpPr>
        <p:spPr>
          <a:xfrm>
            <a:off x="8001000" y="3017520"/>
            <a:ext cx="3520440" cy="1371600"/>
          </a:xfrm>
          <a:prstGeom prst="rect">
            <a:avLst/>
          </a:prstGeom>
          <a:solidFill>
            <a:srgbClr val="F2F4F7"/>
          </a:solidFill>
          <a:ln w="9525">
            <a:solidFill>
              <a:srgbClr val="E3E7ED"/>
            </a:solidFill>
            <a:prstDash val="solid"/>
          </a:ln>
        </p:spPr>
      </p:sp>
      <p:sp>
        <p:nvSpPr>
          <p:cNvPr id="23" name="Text 21"/>
          <p:cNvSpPr/>
          <p:nvPr/>
        </p:nvSpPr>
        <p:spPr>
          <a:xfrm>
            <a:off x="8001000" y="3127248"/>
            <a:ext cx="3520440" cy="713232"/>
          </a:xfrm>
          <a:prstGeom prst="rect">
            <a:avLst/>
          </a:prstGeom>
          <a:noFill/>
          <a:ln/>
        </p:spPr>
        <p:txBody>
          <a:bodyPr wrap="square" lIns="0" tIns="0" rIns="0" bIns="0"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3.87 / 5</a:t>
            </a:r>
            <a:endParaRPr lang="en-US" sz="2800" dirty="0"/>
          </a:p>
        </p:txBody>
      </p:sp>
      <p:sp>
        <p:nvSpPr>
          <p:cNvPr id="24" name="Text 22"/>
          <p:cNvSpPr/>
          <p:nvPr/>
        </p:nvSpPr>
        <p:spPr>
          <a:xfrm>
            <a:off x="8092440" y="3813048"/>
            <a:ext cx="3337560" cy="493776"/>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Average rating</a:t>
            </a:r>
            <a:endParaRPr lang="en-US" sz="1200" dirty="0"/>
          </a:p>
        </p:txBody>
      </p:sp>
      <p:sp>
        <p:nvSpPr>
          <p:cNvPr id="25" name="Shape 23"/>
          <p:cNvSpPr/>
          <p:nvPr/>
        </p:nvSpPr>
        <p:spPr>
          <a:xfrm>
            <a:off x="502920" y="4754880"/>
            <a:ext cx="11183112" cy="1417320"/>
          </a:xfrm>
          <a:prstGeom prst="rect">
            <a:avLst/>
          </a:prstGeom>
          <a:solidFill>
            <a:srgbClr val="FFFFFF"/>
          </a:solidFill>
          <a:ln w="19050">
            <a:solidFill>
              <a:srgbClr val="C9A66B"/>
            </a:solidFill>
            <a:prstDash val="solid"/>
          </a:ln>
        </p:spPr>
      </p:sp>
      <p:sp>
        <p:nvSpPr>
          <p:cNvPr id="26" name="Text 24"/>
          <p:cNvSpPr/>
          <p:nvPr/>
        </p:nvSpPr>
        <p:spPr>
          <a:xfrm>
            <a:off x="731520" y="4846320"/>
            <a:ext cx="10725912" cy="1234440"/>
          </a:xfrm>
          <a:prstGeom prst="rect">
            <a:avLst/>
          </a:prstGeom>
          <a:noFill/>
          <a:ln/>
        </p:spPr>
        <p:txBody>
          <a:bodyPr wrap="square" lIns="0" tIns="0" rIns="0" bIns="0" rtlCol="0" anchor="ctr"/>
          <a:lstStyle/>
          <a:p>
            <a:pPr indent="0" marL="0">
              <a:buNone/>
            </a:pPr>
            <a:r>
              <a:rPr lang="en-US" sz="1600" b="1" dirty="0">
                <a:solidFill>
                  <a:srgbClr val="1F3864"/>
                </a:solidFill>
                <a:latin typeface="Calibri" pitchFamily="34" charset="0"/>
                <a:ea typeface="Calibri" pitchFamily="34" charset="-122"/>
                <a:cs typeface="Calibri" pitchFamily="34" charset="-120"/>
              </a:rPr>
              <a:t>2024 revenue (₹9.38M) was 1.4% below 2023 (₹9.51M). </a:t>
            </a:r>
            <a:pPr indent="0" marL="0">
              <a:buNone/>
            </a:pPr>
            <a:r>
              <a:rPr lang="en-US" sz="1600" dirty="0">
                <a:solidFill>
                  <a:srgbClr val="222222"/>
                </a:solidFill>
                <a:latin typeface="Calibri" pitchFamily="34" charset="0"/>
                <a:ea typeface="Calibri" pitchFamily="34" charset="-122"/>
                <a:cs typeface="Calibri" pitchFamily="34" charset="-120"/>
              </a:rPr>
              <a:t>Customers who were already buying in 2023 produced 83% of 2024 revenue, while first-time customers fell from 2,011 to 570. Without a change, the baseline forecast for 2025 is ₹9.26M.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F3864"/>
          </a:solidFill>
          <a:ln w="12700">
            <a:solidFill>
              <a:srgbClr val="1F3864"/>
            </a:solidFill>
            <a:prstDash val="solid"/>
          </a:ln>
        </p:spPr>
      </p:sp>
      <p:sp>
        <p:nvSpPr>
          <p:cNvPr id="3" name="Text 1"/>
          <p:cNvSpPr/>
          <p:nvPr/>
        </p:nvSpPr>
        <p:spPr>
          <a:xfrm>
            <a:off x="457200" y="109728"/>
            <a:ext cx="11274552"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Five findings management should know</a:t>
            </a:r>
            <a:endParaRPr lang="en-US" sz="2400" dirty="0"/>
          </a:p>
        </p:txBody>
      </p:sp>
      <p:sp>
        <p:nvSpPr>
          <p:cNvPr id="4" name="Text 2"/>
          <p:cNvSpPr/>
          <p:nvPr/>
        </p:nvSpPr>
        <p:spPr>
          <a:xfrm>
            <a:off x="457200" y="658368"/>
            <a:ext cx="11274552" cy="310896"/>
          </a:xfrm>
          <a:prstGeom prst="rect">
            <a:avLst/>
          </a:prstGeom>
          <a:noFill/>
          <a:ln/>
        </p:spPr>
        <p:txBody>
          <a:bodyPr wrap="square" lIns="0" tIns="0" rIns="0" bIns="0" rtlCol="0" anchor="ctr"/>
          <a:lstStyle/>
          <a:p>
            <a:pPr indent="0" marL="0">
              <a:buNone/>
            </a:pPr>
            <a:r>
              <a:rPr lang="en-US" sz="1300" i="1" dirty="0">
                <a:solidFill>
                  <a:srgbClr val="C9D2E0"/>
                </a:solidFill>
                <a:latin typeface="Calibri" pitchFamily="34" charset="0"/>
                <a:ea typeface="Calibri" pitchFamily="34" charset="-122"/>
                <a:cs typeface="Calibri" pitchFamily="34" charset="-120"/>
              </a:rPr>
              <a:t>Each is backed by statistical testing; details follow</a:t>
            </a:r>
            <a:endParaRPr lang="en-US" sz="1300" dirty="0"/>
          </a:p>
        </p:txBody>
      </p:sp>
      <p:sp>
        <p:nvSpPr>
          <p:cNvPr id="5" name="Text 3"/>
          <p:cNvSpPr/>
          <p:nvPr/>
        </p:nvSpPr>
        <p:spPr>
          <a:xfrm>
            <a:off x="457200" y="6510528"/>
            <a:ext cx="64008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Customer Shopping Trends — Executive BI</a:t>
            </a:r>
            <a:endParaRPr lang="en-US" sz="900" dirty="0"/>
          </a:p>
        </p:txBody>
      </p:sp>
      <p:sp>
        <p:nvSpPr>
          <p:cNvPr id="6" name="Text 4"/>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3</a:t>
            </a:r>
            <a:endParaRPr lang="en-US" sz="900" dirty="0"/>
          </a:p>
        </p:txBody>
      </p:sp>
      <p:sp>
        <p:nvSpPr>
          <p:cNvPr id="7" name="Shape 5"/>
          <p:cNvSpPr/>
          <p:nvPr/>
        </p:nvSpPr>
        <p:spPr>
          <a:xfrm>
            <a:off x="548640" y="1481328"/>
            <a:ext cx="548640" cy="548640"/>
          </a:xfrm>
          <a:prstGeom prst="ellipse">
            <a:avLst/>
          </a:prstGeom>
          <a:solidFill>
            <a:srgbClr val="1F3864"/>
          </a:solidFill>
          <a:ln w="12700">
            <a:solidFill>
              <a:srgbClr val="1F3864"/>
            </a:solidFill>
            <a:prstDash val="solid"/>
          </a:ln>
        </p:spPr>
      </p:sp>
      <p:sp>
        <p:nvSpPr>
          <p:cNvPr id="8" name="Text 6"/>
          <p:cNvSpPr/>
          <p:nvPr/>
        </p:nvSpPr>
        <p:spPr>
          <a:xfrm>
            <a:off x="548640" y="148132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p:nvPr/>
        </p:nvSpPr>
        <p:spPr>
          <a:xfrm>
            <a:off x="1371600" y="1371600"/>
            <a:ext cx="10177272" cy="411480"/>
          </a:xfrm>
          <a:prstGeom prst="rect">
            <a:avLst/>
          </a:prstGeom>
          <a:noFill/>
          <a:ln/>
        </p:spPr>
        <p:txBody>
          <a:bodyPr wrap="square" lIns="0" tIns="0" rIns="0" bIns="0" rtlCol="0" anchor="ctr"/>
          <a:lstStyle/>
          <a:p>
            <a:pPr indent="0" marL="0">
              <a:buNone/>
            </a:pPr>
            <a:r>
              <a:rPr lang="en-US" sz="2200" b="1" dirty="0">
                <a:solidFill>
                  <a:srgbClr val="1F3864"/>
                </a:solidFill>
                <a:latin typeface="Calibri" pitchFamily="34" charset="0"/>
                <a:ea typeface="Calibri" pitchFamily="34" charset="-122"/>
                <a:cs typeface="Calibri" pitchFamily="34" charset="-120"/>
              </a:rPr>
              <a:t>Late delivery is the clearest fixable problem</a:t>
            </a:r>
            <a:endParaRPr lang="en-US" sz="2200" dirty="0"/>
          </a:p>
        </p:txBody>
      </p:sp>
      <p:sp>
        <p:nvSpPr>
          <p:cNvPr id="10" name="Text 8"/>
          <p:cNvSpPr/>
          <p:nvPr/>
        </p:nvSpPr>
        <p:spPr>
          <a:xfrm>
            <a:off x="1371600" y="1828800"/>
            <a:ext cx="10177272" cy="41148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Orders taking 6+ days: rating 3.42 vs 4.08; returned 21.8% vs 16.5%</a:t>
            </a:r>
            <a:endParaRPr lang="en-US" sz="1600" dirty="0"/>
          </a:p>
        </p:txBody>
      </p:sp>
      <p:sp>
        <p:nvSpPr>
          <p:cNvPr id="11" name="Shape 9"/>
          <p:cNvSpPr/>
          <p:nvPr/>
        </p:nvSpPr>
        <p:spPr>
          <a:xfrm>
            <a:off x="548640" y="2468880"/>
            <a:ext cx="548640" cy="548640"/>
          </a:xfrm>
          <a:prstGeom prst="ellipse">
            <a:avLst/>
          </a:prstGeom>
          <a:solidFill>
            <a:srgbClr val="1F3864"/>
          </a:solidFill>
          <a:ln w="12700">
            <a:solidFill>
              <a:srgbClr val="1F3864"/>
            </a:solidFill>
            <a:prstDash val="solid"/>
          </a:ln>
        </p:spPr>
      </p:sp>
      <p:sp>
        <p:nvSpPr>
          <p:cNvPr id="12" name="Text 10"/>
          <p:cNvSpPr/>
          <p:nvPr/>
        </p:nvSpPr>
        <p:spPr>
          <a:xfrm>
            <a:off x="548640" y="24688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1371600" y="2359152"/>
            <a:ext cx="10177272" cy="411480"/>
          </a:xfrm>
          <a:prstGeom prst="rect">
            <a:avLst/>
          </a:prstGeom>
          <a:noFill/>
          <a:ln/>
        </p:spPr>
        <p:txBody>
          <a:bodyPr wrap="square" lIns="0" tIns="0" rIns="0" bIns="0" rtlCol="0" anchor="ctr"/>
          <a:lstStyle/>
          <a:p>
            <a:pPr indent="0" marL="0">
              <a:buNone/>
            </a:pPr>
            <a:r>
              <a:rPr lang="en-US" sz="2200" b="1" dirty="0">
                <a:solidFill>
                  <a:srgbClr val="1F3864"/>
                </a:solidFill>
                <a:latin typeface="Calibri" pitchFamily="34" charset="0"/>
                <a:ea typeface="Calibri" pitchFamily="34" charset="-122"/>
                <a:cs typeface="Calibri" pitchFamily="34" charset="-120"/>
              </a:rPr>
              <a:t>Sales add orders but shrink baskets</a:t>
            </a:r>
            <a:endParaRPr lang="en-US" sz="2200" dirty="0"/>
          </a:p>
        </p:txBody>
      </p:sp>
      <p:sp>
        <p:nvSpPr>
          <p:cNvPr id="14" name="Text 12"/>
          <p:cNvSpPr/>
          <p:nvPr/>
        </p:nvSpPr>
        <p:spPr>
          <a:xfrm>
            <a:off x="1371600" y="2816352"/>
            <a:ext cx="10177272" cy="41148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Orders/day +143%, revenue/day +44%; average sale order 41% smaller</a:t>
            </a:r>
            <a:endParaRPr lang="en-US" sz="1600" dirty="0"/>
          </a:p>
        </p:txBody>
      </p:sp>
      <p:sp>
        <p:nvSpPr>
          <p:cNvPr id="15" name="Shape 13"/>
          <p:cNvSpPr/>
          <p:nvPr/>
        </p:nvSpPr>
        <p:spPr>
          <a:xfrm>
            <a:off x="548640" y="3456432"/>
            <a:ext cx="548640" cy="548640"/>
          </a:xfrm>
          <a:prstGeom prst="ellipse">
            <a:avLst/>
          </a:prstGeom>
          <a:solidFill>
            <a:srgbClr val="1F3864"/>
          </a:solidFill>
          <a:ln w="12700">
            <a:solidFill>
              <a:srgbClr val="1F3864"/>
            </a:solidFill>
            <a:prstDash val="solid"/>
          </a:ln>
        </p:spPr>
      </p:sp>
      <p:sp>
        <p:nvSpPr>
          <p:cNvPr id="16" name="Text 14"/>
          <p:cNvSpPr/>
          <p:nvPr/>
        </p:nvSpPr>
        <p:spPr>
          <a:xfrm>
            <a:off x="548640" y="3456432"/>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p:nvPr/>
        </p:nvSpPr>
        <p:spPr>
          <a:xfrm>
            <a:off x="1371600" y="3346704"/>
            <a:ext cx="10177272" cy="411480"/>
          </a:xfrm>
          <a:prstGeom prst="rect">
            <a:avLst/>
          </a:prstGeom>
          <a:noFill/>
          <a:ln/>
        </p:spPr>
        <p:txBody>
          <a:bodyPr wrap="square" lIns="0" tIns="0" rIns="0" bIns="0" rtlCol="0" anchor="ctr"/>
          <a:lstStyle/>
          <a:p>
            <a:pPr indent="0" marL="0">
              <a:buNone/>
            </a:pPr>
            <a:r>
              <a:rPr lang="en-US" sz="2200" b="1" dirty="0">
                <a:solidFill>
                  <a:srgbClr val="1F3864"/>
                </a:solidFill>
                <a:latin typeface="Calibri" pitchFamily="34" charset="0"/>
                <a:ea typeface="Calibri" pitchFamily="34" charset="-122"/>
                <a:cs typeface="Calibri" pitchFamily="34" charset="-120"/>
              </a:rPr>
              <a:t>Gender, not age, decides what people buy</a:t>
            </a:r>
            <a:endParaRPr lang="en-US" sz="2200" dirty="0"/>
          </a:p>
        </p:txBody>
      </p:sp>
      <p:sp>
        <p:nvSpPr>
          <p:cNvPr id="18" name="Text 16"/>
          <p:cNvSpPr/>
          <p:nvPr/>
        </p:nvSpPr>
        <p:spPr>
          <a:xfrm>
            <a:off x="1371600" y="3803904"/>
            <a:ext cx="10177272" cy="41148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Traditional wear: 41% of women's clothing orders vs 4% of men's; no age effect</a:t>
            </a:r>
            <a:endParaRPr lang="en-US" sz="1600" dirty="0"/>
          </a:p>
        </p:txBody>
      </p:sp>
      <p:sp>
        <p:nvSpPr>
          <p:cNvPr id="19" name="Shape 17"/>
          <p:cNvSpPr/>
          <p:nvPr/>
        </p:nvSpPr>
        <p:spPr>
          <a:xfrm>
            <a:off x="548640" y="4443984"/>
            <a:ext cx="548640" cy="548640"/>
          </a:xfrm>
          <a:prstGeom prst="ellipse">
            <a:avLst/>
          </a:prstGeom>
          <a:solidFill>
            <a:srgbClr val="1F3864"/>
          </a:solidFill>
          <a:ln w="12700">
            <a:solidFill>
              <a:srgbClr val="1F3864"/>
            </a:solidFill>
            <a:prstDash val="solid"/>
          </a:ln>
        </p:spPr>
      </p:sp>
      <p:sp>
        <p:nvSpPr>
          <p:cNvPr id="20" name="Text 18"/>
          <p:cNvSpPr/>
          <p:nvPr/>
        </p:nvSpPr>
        <p:spPr>
          <a:xfrm>
            <a:off x="548640" y="4443984"/>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9"/>
          <p:cNvSpPr/>
          <p:nvPr/>
        </p:nvSpPr>
        <p:spPr>
          <a:xfrm>
            <a:off x="1371600" y="4334256"/>
            <a:ext cx="10177272" cy="411480"/>
          </a:xfrm>
          <a:prstGeom prst="rect">
            <a:avLst/>
          </a:prstGeom>
          <a:noFill/>
          <a:ln/>
        </p:spPr>
        <p:txBody>
          <a:bodyPr wrap="square" lIns="0" tIns="0" rIns="0" bIns="0" rtlCol="0" anchor="ctr"/>
          <a:lstStyle/>
          <a:p>
            <a:pPr indent="0" marL="0">
              <a:buNone/>
            </a:pPr>
            <a:r>
              <a:rPr lang="en-US" sz="2200" b="1" dirty="0">
                <a:solidFill>
                  <a:srgbClr val="1F3864"/>
                </a:solidFill>
                <a:latin typeface="Calibri" pitchFamily="34" charset="0"/>
                <a:ea typeface="Calibri" pitchFamily="34" charset="-122"/>
                <a:cs typeface="Calibri" pitchFamily="34" charset="-120"/>
              </a:rPr>
              <a:t>A small core carries the revenue</a:t>
            </a:r>
            <a:endParaRPr lang="en-US" sz="2200" dirty="0"/>
          </a:p>
        </p:txBody>
      </p:sp>
      <p:sp>
        <p:nvSpPr>
          <p:cNvPr id="22" name="Text 20"/>
          <p:cNvSpPr/>
          <p:nvPr/>
        </p:nvSpPr>
        <p:spPr>
          <a:xfrm>
            <a:off x="1371600" y="4791456"/>
            <a:ext cx="10177272" cy="41148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28% of customers (Champions) generate 63% of revenue</a:t>
            </a:r>
            <a:endParaRPr lang="en-US" sz="1600" dirty="0"/>
          </a:p>
        </p:txBody>
      </p:sp>
      <p:sp>
        <p:nvSpPr>
          <p:cNvPr id="23" name="Shape 21"/>
          <p:cNvSpPr/>
          <p:nvPr/>
        </p:nvSpPr>
        <p:spPr>
          <a:xfrm>
            <a:off x="548640" y="5431536"/>
            <a:ext cx="548640" cy="548640"/>
          </a:xfrm>
          <a:prstGeom prst="ellipse">
            <a:avLst/>
          </a:prstGeom>
          <a:solidFill>
            <a:srgbClr val="1F3864"/>
          </a:solidFill>
          <a:ln w="12700">
            <a:solidFill>
              <a:srgbClr val="1F3864"/>
            </a:solidFill>
            <a:prstDash val="solid"/>
          </a:ln>
        </p:spPr>
      </p:sp>
      <p:sp>
        <p:nvSpPr>
          <p:cNvPr id="24" name="Text 22"/>
          <p:cNvSpPr/>
          <p:nvPr/>
        </p:nvSpPr>
        <p:spPr>
          <a:xfrm>
            <a:off x="548640" y="5431536"/>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5" name="Text 23"/>
          <p:cNvSpPr/>
          <p:nvPr/>
        </p:nvSpPr>
        <p:spPr>
          <a:xfrm>
            <a:off x="1371600" y="5321808"/>
            <a:ext cx="10177272" cy="411480"/>
          </a:xfrm>
          <a:prstGeom prst="rect">
            <a:avLst/>
          </a:prstGeom>
          <a:noFill/>
          <a:ln/>
        </p:spPr>
        <p:txBody>
          <a:bodyPr wrap="square" lIns="0" tIns="0" rIns="0" bIns="0" rtlCol="0" anchor="ctr"/>
          <a:lstStyle/>
          <a:p>
            <a:pPr indent="0" marL="0">
              <a:buNone/>
            </a:pPr>
            <a:r>
              <a:rPr lang="en-US" sz="2200" b="1" dirty="0">
                <a:solidFill>
                  <a:srgbClr val="1F3864"/>
                </a:solidFill>
                <a:latin typeface="Calibri" pitchFamily="34" charset="0"/>
                <a:ea typeface="Calibri" pitchFamily="34" charset="-122"/>
                <a:cs typeface="Calibri" pitchFamily="34" charset="-120"/>
              </a:rPr>
              <a:t>New-customer inflow has collapsed</a:t>
            </a:r>
            <a:endParaRPr lang="en-US" sz="2200" dirty="0"/>
          </a:p>
        </p:txBody>
      </p:sp>
      <p:sp>
        <p:nvSpPr>
          <p:cNvPr id="26" name="Text 24"/>
          <p:cNvSpPr/>
          <p:nvPr/>
        </p:nvSpPr>
        <p:spPr>
          <a:xfrm>
            <a:off x="1371600" y="5779008"/>
            <a:ext cx="10177272" cy="411480"/>
          </a:xfrm>
          <a:prstGeom prst="rect">
            <a:avLst/>
          </a:prstGeom>
          <a:noFill/>
          <a:ln/>
        </p:spPr>
        <p:txBody>
          <a:bodyPr wrap="square" lIns="0" tIns="0" rIns="0" bIns="0" rtlCol="0" anchor="ctr"/>
          <a:lstStyle/>
          <a:p>
            <a:pPr indent="0" marL="0">
              <a:buNone/>
            </a:pPr>
            <a:r>
              <a:rPr lang="en-US" sz="1600" dirty="0">
                <a:solidFill>
                  <a:srgbClr val="222222"/>
                </a:solidFill>
                <a:latin typeface="Calibri" pitchFamily="34" charset="0"/>
                <a:ea typeface="Calibri" pitchFamily="34" charset="-122"/>
                <a:cs typeface="Calibri" pitchFamily="34" charset="-120"/>
              </a:rPr>
              <a:t>2,011 first-time customers in 2023, 570 in 2024 (−72%)</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F3864"/>
          </a:solidFill>
          <a:ln w="12700">
            <a:solidFill>
              <a:srgbClr val="1F3864"/>
            </a:solidFill>
            <a:prstDash val="solid"/>
          </a:ln>
        </p:spPr>
      </p:sp>
      <p:sp>
        <p:nvSpPr>
          <p:cNvPr id="3" name="Text 1"/>
          <p:cNvSpPr/>
          <p:nvPr/>
        </p:nvSpPr>
        <p:spPr>
          <a:xfrm>
            <a:off x="457200" y="109728"/>
            <a:ext cx="11274552"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data was audited and cleaned before any analysis</a:t>
            </a:r>
            <a:endParaRPr lang="en-US" sz="2400" dirty="0"/>
          </a:p>
        </p:txBody>
      </p:sp>
      <p:sp>
        <p:nvSpPr>
          <p:cNvPr id="4" name="Text 2"/>
          <p:cNvSpPr/>
          <p:nvPr/>
        </p:nvSpPr>
        <p:spPr>
          <a:xfrm>
            <a:off x="457200" y="658368"/>
            <a:ext cx="11274552" cy="310896"/>
          </a:xfrm>
          <a:prstGeom prst="rect">
            <a:avLst/>
          </a:prstGeom>
          <a:noFill/>
          <a:ln/>
        </p:spPr>
        <p:txBody>
          <a:bodyPr wrap="square" lIns="0" tIns="0" rIns="0" bIns="0" rtlCol="0" anchor="ctr"/>
          <a:lstStyle/>
          <a:p>
            <a:pPr indent="0" marL="0">
              <a:buNone/>
            </a:pPr>
            <a:r>
              <a:rPr lang="en-US" sz="1300" i="1" dirty="0">
                <a:solidFill>
                  <a:srgbClr val="C9D2E0"/>
                </a:solidFill>
                <a:latin typeface="Calibri" pitchFamily="34" charset="0"/>
                <a:ea typeface="Calibri" pitchFamily="34" charset="-122"/>
                <a:cs typeface="Calibri" pitchFamily="34" charset="-120"/>
              </a:rPr>
              <a:t>Five fixes made and counted; four problems flagged but not changed</a:t>
            </a:r>
            <a:endParaRPr lang="en-US" sz="1300" dirty="0"/>
          </a:p>
        </p:txBody>
      </p:sp>
      <p:sp>
        <p:nvSpPr>
          <p:cNvPr id="5" name="Text 3"/>
          <p:cNvSpPr/>
          <p:nvPr/>
        </p:nvSpPr>
        <p:spPr>
          <a:xfrm>
            <a:off x="457200" y="6510528"/>
            <a:ext cx="64008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Customer Shopping Trends — Executive BI</a:t>
            </a:r>
            <a:endParaRPr lang="en-US" sz="900" dirty="0"/>
          </a:p>
        </p:txBody>
      </p:sp>
      <p:sp>
        <p:nvSpPr>
          <p:cNvPr id="6" name="Text 4"/>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457200" y="1280160"/>
            <a:ext cx="5486400" cy="365760"/>
          </a:xfrm>
          <a:prstGeom prst="rect">
            <a:avLst/>
          </a:prstGeom>
          <a:noFill/>
          <a:ln/>
        </p:spPr>
        <p:txBody>
          <a:bodyPr wrap="square" lIns="0" tIns="0" rIns="0" bIns="0"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Fixed</a:t>
            </a:r>
            <a:endParaRPr lang="en-US" sz="18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6035040" cy="914400"/>
        </p:xfrm>
        <a:graphic>
          <a:graphicData uri="http://schemas.openxmlformats.org/drawingml/2006/table">
            <a:tbl>
              <a:tblPr/>
              <a:tblGrid>
                <a:gridCol w="1463040"/>
                <a:gridCol w="3840480"/>
                <a:gridCol w="731520"/>
              </a:tblGrid>
              <a:tr h="45720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Column</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Issue</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Rows</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5720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Online Store</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Blank on offline orders → "In-Store Purchase"</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2,249</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Delivery Speed</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Blank on offline orders → "N/A (Offline)"</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2,249</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r>
              <a:tr h="45720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Festival/Sale</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Blank = no sale → "Standard Day"</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6,788</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5720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Size</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Blank on accessories → "Free Size"</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1,035</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r>
              <a:tr h="457200">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Delivery Time</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Calibri" pitchFamily="34" charset="0"/>
                          <a:ea typeface="Calibri" pitchFamily="34" charset="-122"/>
                          <a:cs typeface="Calibri" pitchFamily="34" charset="-120"/>
                        </a:rPr>
                        <a:t>Same Day showed 1 day; rule says 0 → set to 0</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558</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9" name="Text 6"/>
          <p:cNvSpPr/>
          <p:nvPr/>
        </p:nvSpPr>
        <p:spPr>
          <a:xfrm>
            <a:off x="6858000" y="1280160"/>
            <a:ext cx="4846320" cy="365760"/>
          </a:xfrm>
          <a:prstGeom prst="rect">
            <a:avLst/>
          </a:prstGeom>
          <a:noFill/>
          <a:ln/>
        </p:spPr>
        <p:txBody>
          <a:bodyPr wrap="square" lIns="0" tIns="0" rIns="0" bIns="0" rtlCol="0" anchor="ctr"/>
          <a:lstStyle/>
          <a:p>
            <a:pPr indent="0" marL="0">
              <a:buNone/>
            </a:pPr>
            <a:r>
              <a:rPr lang="en-US" sz="1800" b="1" dirty="0">
                <a:solidFill>
                  <a:srgbClr val="C00000"/>
                </a:solidFill>
                <a:latin typeface="Calibri" pitchFamily="34" charset="0"/>
                <a:ea typeface="Calibri" pitchFamily="34" charset="-122"/>
                <a:cs typeface="Calibri" pitchFamily="34" charset="-120"/>
              </a:rPr>
              <a:t>Flagged, not fixed</a:t>
            </a:r>
            <a:endParaRPr lang="en-US" sz="1800" dirty="0"/>
          </a:p>
        </p:txBody>
      </p:sp>
      <p:sp>
        <p:nvSpPr>
          <p:cNvPr id="10" name="Text 7"/>
          <p:cNvSpPr/>
          <p:nvPr/>
        </p:nvSpPr>
        <p:spPr>
          <a:xfrm>
            <a:off x="6858000" y="1691640"/>
            <a:ext cx="4846320" cy="265176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22222"/>
                </a:solidFill>
                <a:latin typeface="Calibri" pitchFamily="34" charset="0"/>
                <a:ea typeface="Calibri" pitchFamily="34" charset="-122"/>
                <a:cs typeface="Calibri" pitchFamily="34" charset="-120"/>
              </a:rPr>
              <a:t>Discounts are lower on sale orders (7%) than standard days (45%) — the reverse of the glossary</a:t>
            </a:r>
            <a:endParaRPr lang="en-US" sz="1400" dirty="0"/>
          </a:p>
          <a:p>
            <a:pPr marL="342900" indent="-342900">
              <a:spcAft>
                <a:spcPts val="800"/>
              </a:spcAft>
              <a:buSzPct val="100000"/>
              <a:buChar char="•"/>
            </a:pPr>
            <a:r>
              <a:rPr lang="en-US" sz="1400" dirty="0">
                <a:solidFill>
                  <a:srgbClr val="222222"/>
                </a:solidFill>
                <a:latin typeface="Calibri" pitchFamily="34" charset="0"/>
                <a:ea typeface="Calibri" pitchFamily="34" charset="-122"/>
                <a:cs typeface="Calibri" pitchFamily="34" charset="-120"/>
              </a:rPr>
              <a:t>12 of 13 brands sell in several categories</a:t>
            </a:r>
            <a:endParaRPr lang="en-US" sz="1400" dirty="0"/>
          </a:p>
          <a:p>
            <a:pPr marL="342900" indent="-342900">
              <a:spcAft>
                <a:spcPts val="800"/>
              </a:spcAft>
              <a:buSzPct val="100000"/>
              <a:buChar char="•"/>
            </a:pPr>
            <a:r>
              <a:rPr lang="en-US" sz="1400" dirty="0">
                <a:solidFill>
                  <a:srgbClr val="222222"/>
                </a:solidFill>
                <a:latin typeface="Calibri" pitchFamily="34" charset="0"/>
                <a:ea typeface="Calibri" pitchFamily="34" charset="-122"/>
                <a:cs typeface="Calibri" pitchFamily="34" charset="-120"/>
              </a:rPr>
              <a:t>Express and Standard delivery days differ from the glossary</a:t>
            </a:r>
            <a:endParaRPr lang="en-US" sz="1400" dirty="0"/>
          </a:p>
          <a:p>
            <a:pPr marL="342900" indent="-342900">
              <a:spcAft>
                <a:spcPts val="800"/>
              </a:spcAft>
              <a:buSzPct val="100000"/>
              <a:buChar char="•"/>
            </a:pPr>
            <a:r>
              <a:rPr lang="en-US" sz="1400" dirty="0">
                <a:solidFill>
                  <a:srgbClr val="222222"/>
                </a:solidFill>
                <a:latin typeface="Calibri" pitchFamily="34" charset="0"/>
                <a:ea typeface="Calibri" pitchFamily="34" charset="-122"/>
                <a:cs typeface="Calibri" pitchFamily="34" charset="-120"/>
              </a:rPr>
              <a:t>No "Other" gender in the file</a:t>
            </a:r>
            <a:endParaRPr lang="en-US" sz="1400" dirty="0"/>
          </a:p>
        </p:txBody>
      </p:sp>
      <p:sp>
        <p:nvSpPr>
          <p:cNvPr id="11" name="Shape 8"/>
          <p:cNvSpPr/>
          <p:nvPr/>
        </p:nvSpPr>
        <p:spPr>
          <a:xfrm>
            <a:off x="457200" y="4892040"/>
            <a:ext cx="11274552" cy="1188720"/>
          </a:xfrm>
          <a:prstGeom prst="rect">
            <a:avLst/>
          </a:prstGeom>
          <a:solidFill>
            <a:srgbClr val="F2F4F7"/>
          </a:solidFill>
          <a:ln w="12700">
            <a:solidFill>
              <a:srgbClr val="F2F4F7"/>
            </a:solidFill>
            <a:prstDash val="solid"/>
          </a:ln>
        </p:spPr>
      </p:sp>
      <p:sp>
        <p:nvSpPr>
          <p:cNvPr id="12" name="Text 9"/>
          <p:cNvSpPr/>
          <p:nvPr/>
        </p:nvSpPr>
        <p:spPr>
          <a:xfrm>
            <a:off x="685800" y="4937760"/>
            <a:ext cx="10817352" cy="1097280"/>
          </a:xfrm>
          <a:prstGeom prst="rect">
            <a:avLst/>
          </a:prstGeom>
          <a:noFill/>
          <a:ln/>
        </p:spPr>
        <p:txBody>
          <a:bodyPr wrap="square" lIns="0" tIns="0" rIns="0" bIns="0" rtlCol="0" anchor="ctr"/>
          <a:lstStyle/>
          <a:p>
            <a:pPr indent="0" marL="0">
              <a:buNone/>
            </a:pPr>
            <a:r>
              <a:rPr lang="en-US" sz="1500" b="1" dirty="0">
                <a:solidFill>
                  <a:srgbClr val="1F3864"/>
                </a:solidFill>
                <a:latin typeface="Calibri" pitchFamily="34" charset="0"/>
                <a:ea typeface="Calibri" pitchFamily="34" charset="-122"/>
                <a:cs typeface="Calibri" pitchFamily="34" charset="-120"/>
              </a:rPr>
              <a:t>Consequence: </a:t>
            </a:r>
            <a:pPr indent="0" marL="0">
              <a:buNone/>
            </a:pPr>
            <a:r>
              <a:rPr lang="en-US" sz="1500" dirty="0">
                <a:solidFill>
                  <a:srgbClr val="222222"/>
                </a:solidFill>
                <a:latin typeface="Calibri" pitchFamily="34" charset="0"/>
                <a:ea typeface="Calibri" pitchFamily="34" charset="-122"/>
                <a:cs typeface="Calibri" pitchFamily="34" charset="-120"/>
              </a:rPr>
              <a:t>we do not judge sale profitability from the discount column and treat brand findings as indicative. No rows were removed. The Excel workbook, SQL script and Python all reproduce the same cleaned table and the same results.</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F3864"/>
          </a:solidFill>
          <a:ln w="12700">
            <a:solidFill>
              <a:srgbClr val="1F3864"/>
            </a:solidFill>
            <a:prstDash val="solid"/>
          </a:ln>
        </p:spPr>
      </p:sp>
      <p:sp>
        <p:nvSpPr>
          <p:cNvPr id="3" name="Text 1"/>
          <p:cNvSpPr/>
          <p:nvPr/>
        </p:nvSpPr>
        <p:spPr>
          <a:xfrm>
            <a:off x="457200" y="109728"/>
            <a:ext cx="11274552"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Revenue is flat; spikes follow the sale windows</a:t>
            </a:r>
            <a:endParaRPr lang="en-US" sz="2400" dirty="0"/>
          </a:p>
        </p:txBody>
      </p:sp>
      <p:sp>
        <p:nvSpPr>
          <p:cNvPr id="4" name="Text 2"/>
          <p:cNvSpPr/>
          <p:nvPr/>
        </p:nvSpPr>
        <p:spPr>
          <a:xfrm>
            <a:off x="457200" y="658368"/>
            <a:ext cx="11274552" cy="310896"/>
          </a:xfrm>
          <a:prstGeom prst="rect">
            <a:avLst/>
          </a:prstGeom>
          <a:noFill/>
          <a:ln/>
        </p:spPr>
        <p:txBody>
          <a:bodyPr wrap="square" lIns="0" tIns="0" rIns="0" bIns="0" rtlCol="0" anchor="ctr"/>
          <a:lstStyle/>
          <a:p>
            <a:pPr indent="0" marL="0">
              <a:buNone/>
            </a:pPr>
            <a:r>
              <a:rPr lang="en-US" sz="1300" i="1" dirty="0">
                <a:solidFill>
                  <a:srgbClr val="C9D2E0"/>
                </a:solidFill>
                <a:latin typeface="Calibri" pitchFamily="34" charset="0"/>
                <a:ea typeface="Calibri" pitchFamily="34" charset="-122"/>
                <a:cs typeface="Calibri" pitchFamily="34" charset="-120"/>
              </a:rPr>
              <a:t>Monthly revenue and 3-month moving average, 2023–2024</a:t>
            </a:r>
            <a:endParaRPr lang="en-US" sz="1300" dirty="0"/>
          </a:p>
        </p:txBody>
      </p:sp>
      <p:sp>
        <p:nvSpPr>
          <p:cNvPr id="5" name="Text 3"/>
          <p:cNvSpPr/>
          <p:nvPr/>
        </p:nvSpPr>
        <p:spPr>
          <a:xfrm>
            <a:off x="457200" y="6510528"/>
            <a:ext cx="64008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Customer Shopping Trends — Executive BI</a:t>
            </a:r>
            <a:endParaRPr lang="en-US" sz="900" dirty="0"/>
          </a:p>
        </p:txBody>
      </p:sp>
      <p:sp>
        <p:nvSpPr>
          <p:cNvPr id="6" name="Text 4"/>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5</a:t>
            </a:r>
            <a:endParaRPr lang="en-US" sz="900" dirty="0"/>
          </a:p>
        </p:txBody>
      </p:sp>
      <p:graphicFrame>
        <p:nvGraphicFramePr>
          <p:cNvPr id="7" name="Chart 0" descr=""/>
          <p:cNvGraphicFramePr/>
          <p:nvPr/>
        </p:nvGraphicFramePr>
        <p:xfrm>
          <a:off x="365760" y="1234440"/>
          <a:ext cx="7589520" cy="493776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8229600" y="1325880"/>
            <a:ext cx="3520440" cy="1417320"/>
          </a:xfrm>
          <a:prstGeom prst="rect">
            <a:avLst/>
          </a:prstGeom>
          <a:solidFill>
            <a:srgbClr val="F2F4F7"/>
          </a:solidFill>
          <a:ln w="9525">
            <a:solidFill>
              <a:srgbClr val="E3E7ED"/>
            </a:solidFill>
            <a:prstDash val="solid"/>
          </a:ln>
        </p:spPr>
      </p:sp>
      <p:sp>
        <p:nvSpPr>
          <p:cNvPr id="9" name="Text 6"/>
          <p:cNvSpPr/>
          <p:nvPr/>
        </p:nvSpPr>
        <p:spPr>
          <a:xfrm>
            <a:off x="8229600" y="1435608"/>
            <a:ext cx="3520440" cy="737006"/>
          </a:xfrm>
          <a:prstGeom prst="rect">
            <a:avLst/>
          </a:prstGeom>
          <a:noFill/>
          <a:ln/>
        </p:spPr>
        <p:txBody>
          <a:bodyPr wrap="square" lIns="0" tIns="0" rIns="0" bIns="0" rtlCol="0" anchor="ctr"/>
          <a:lstStyle/>
          <a:p>
            <a:pPr algn="ctr" indent="0" marL="0">
              <a:buNone/>
            </a:pPr>
            <a:r>
              <a:rPr lang="en-US" sz="2800" b="1" dirty="0">
                <a:solidFill>
                  <a:srgbClr val="C00000"/>
                </a:solidFill>
                <a:latin typeface="Calibri" pitchFamily="34" charset="0"/>
                <a:ea typeface="Calibri" pitchFamily="34" charset="-122"/>
                <a:cs typeface="Calibri" pitchFamily="34" charset="-120"/>
              </a:rPr>
              <a:t>−1.4%</a:t>
            </a:r>
            <a:endParaRPr lang="en-US" sz="2800" dirty="0"/>
          </a:p>
        </p:txBody>
      </p:sp>
      <p:sp>
        <p:nvSpPr>
          <p:cNvPr id="10" name="Text 7"/>
          <p:cNvSpPr/>
          <p:nvPr/>
        </p:nvSpPr>
        <p:spPr>
          <a:xfrm>
            <a:off x="8321040" y="2147926"/>
            <a:ext cx="3337560" cy="510235"/>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2024 vs 2023 revenue</a:t>
            </a:r>
            <a:endParaRPr lang="en-US" sz="1200" dirty="0"/>
          </a:p>
        </p:txBody>
      </p:sp>
      <p:sp>
        <p:nvSpPr>
          <p:cNvPr id="11" name="Shape 8"/>
          <p:cNvSpPr/>
          <p:nvPr/>
        </p:nvSpPr>
        <p:spPr>
          <a:xfrm>
            <a:off x="8229600" y="2926080"/>
            <a:ext cx="3520440" cy="1417320"/>
          </a:xfrm>
          <a:prstGeom prst="rect">
            <a:avLst/>
          </a:prstGeom>
          <a:solidFill>
            <a:srgbClr val="F2F4F7"/>
          </a:solidFill>
          <a:ln w="9525">
            <a:solidFill>
              <a:srgbClr val="E3E7ED"/>
            </a:solidFill>
            <a:prstDash val="solid"/>
          </a:ln>
        </p:spPr>
      </p:sp>
      <p:sp>
        <p:nvSpPr>
          <p:cNvPr id="12" name="Text 9"/>
          <p:cNvSpPr/>
          <p:nvPr/>
        </p:nvSpPr>
        <p:spPr>
          <a:xfrm>
            <a:off x="8229600" y="3035808"/>
            <a:ext cx="3520440" cy="737006"/>
          </a:xfrm>
          <a:prstGeom prst="rect">
            <a:avLst/>
          </a:prstGeom>
          <a:noFill/>
          <a:ln/>
        </p:spPr>
        <p:txBody>
          <a:bodyPr wrap="square" lIns="0" tIns="0" rIns="0" bIns="0"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r = 0.96</a:t>
            </a:r>
            <a:endParaRPr lang="en-US" sz="2800" dirty="0"/>
          </a:p>
        </p:txBody>
      </p:sp>
      <p:sp>
        <p:nvSpPr>
          <p:cNvPr id="13" name="Text 10"/>
          <p:cNvSpPr/>
          <p:nvPr/>
        </p:nvSpPr>
        <p:spPr>
          <a:xfrm>
            <a:off x="8321040" y="3748126"/>
            <a:ext cx="3337560" cy="510235"/>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Sale share vs monthly orders</a:t>
            </a:r>
            <a:endParaRPr lang="en-US" sz="1200" dirty="0"/>
          </a:p>
        </p:txBody>
      </p:sp>
      <p:sp>
        <p:nvSpPr>
          <p:cNvPr id="14" name="Shape 11"/>
          <p:cNvSpPr/>
          <p:nvPr/>
        </p:nvSpPr>
        <p:spPr>
          <a:xfrm>
            <a:off x="8229600" y="4526280"/>
            <a:ext cx="3520440" cy="1417320"/>
          </a:xfrm>
          <a:prstGeom prst="rect">
            <a:avLst/>
          </a:prstGeom>
          <a:solidFill>
            <a:srgbClr val="F2F4F7"/>
          </a:solidFill>
          <a:ln w="9525">
            <a:solidFill>
              <a:srgbClr val="E3E7ED"/>
            </a:solidFill>
            <a:prstDash val="solid"/>
          </a:ln>
        </p:spPr>
      </p:sp>
      <p:sp>
        <p:nvSpPr>
          <p:cNvPr id="15" name="Text 12"/>
          <p:cNvSpPr/>
          <p:nvPr/>
        </p:nvSpPr>
        <p:spPr>
          <a:xfrm>
            <a:off x="8229600" y="4636008"/>
            <a:ext cx="3520440" cy="737006"/>
          </a:xfrm>
          <a:prstGeom prst="rect">
            <a:avLst/>
          </a:prstGeom>
          <a:noFill/>
          <a:ln/>
        </p:spPr>
        <p:txBody>
          <a:bodyPr wrap="square" lIns="0" tIns="0" rIns="0" bIns="0"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₹9.26M</a:t>
            </a:r>
            <a:endParaRPr lang="en-US" sz="2800" dirty="0"/>
          </a:p>
        </p:txBody>
      </p:sp>
      <p:sp>
        <p:nvSpPr>
          <p:cNvPr id="16" name="Text 13"/>
          <p:cNvSpPr/>
          <p:nvPr/>
        </p:nvSpPr>
        <p:spPr>
          <a:xfrm>
            <a:off x="8321040" y="5348326"/>
            <a:ext cx="3337560" cy="510235"/>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2025 baseline forecast (±6%)</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F3864"/>
          </a:solidFill>
          <a:ln w="12700">
            <a:solidFill>
              <a:srgbClr val="1F3864"/>
            </a:solidFill>
            <a:prstDash val="solid"/>
          </a:ln>
        </p:spPr>
      </p:sp>
      <p:sp>
        <p:nvSpPr>
          <p:cNvPr id="3" name="Text 1"/>
          <p:cNvSpPr/>
          <p:nvPr/>
        </p:nvSpPr>
        <p:spPr>
          <a:xfrm>
            <a:off x="457200" y="109728"/>
            <a:ext cx="11274552"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Sales lift orders by 143% but revenue by only 44%</a:t>
            </a:r>
            <a:endParaRPr lang="en-US" sz="2400" dirty="0"/>
          </a:p>
        </p:txBody>
      </p:sp>
      <p:sp>
        <p:nvSpPr>
          <p:cNvPr id="4" name="Text 2"/>
          <p:cNvSpPr/>
          <p:nvPr/>
        </p:nvSpPr>
        <p:spPr>
          <a:xfrm>
            <a:off x="457200" y="658368"/>
            <a:ext cx="11274552" cy="310896"/>
          </a:xfrm>
          <a:prstGeom prst="rect">
            <a:avLst/>
          </a:prstGeom>
          <a:noFill/>
          <a:ln/>
        </p:spPr>
        <p:txBody>
          <a:bodyPr wrap="square" lIns="0" tIns="0" rIns="0" bIns="0" rtlCol="0" anchor="ctr"/>
          <a:lstStyle/>
          <a:p>
            <a:pPr indent="0" marL="0">
              <a:buNone/>
            </a:pPr>
            <a:r>
              <a:rPr lang="en-US" sz="1300" i="1" dirty="0">
                <a:solidFill>
                  <a:srgbClr val="C9D2E0"/>
                </a:solidFill>
                <a:latin typeface="Calibri" pitchFamily="34" charset="0"/>
                <a:ea typeface="Calibri" pitchFamily="34" charset="-122"/>
                <a:cs typeface="Calibri" pitchFamily="34" charset="-120"/>
              </a:rPr>
              <a:t>Sale orders are about 40% smaller; shorter events lift more</a:t>
            </a:r>
            <a:endParaRPr lang="en-US" sz="1300" dirty="0"/>
          </a:p>
        </p:txBody>
      </p:sp>
      <p:sp>
        <p:nvSpPr>
          <p:cNvPr id="5" name="Text 3"/>
          <p:cNvSpPr/>
          <p:nvPr/>
        </p:nvSpPr>
        <p:spPr>
          <a:xfrm>
            <a:off x="457200" y="6510528"/>
            <a:ext cx="64008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Customer Shopping Trends — Executive BI</a:t>
            </a:r>
            <a:endParaRPr lang="en-US" sz="900" dirty="0"/>
          </a:p>
        </p:txBody>
      </p:sp>
      <p:sp>
        <p:nvSpPr>
          <p:cNvPr id="6" name="Text 4"/>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6</a:t>
            </a:r>
            <a:endParaRPr lang="en-US" sz="900" dirty="0"/>
          </a:p>
        </p:txBody>
      </p:sp>
      <p:graphicFrame>
        <p:nvGraphicFramePr>
          <p:cNvPr id="7" name="Chart 0" descr=""/>
          <p:cNvGraphicFramePr/>
          <p:nvPr/>
        </p:nvGraphicFramePr>
        <p:xfrm>
          <a:off x="365760" y="1234440"/>
          <a:ext cx="640080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
          <p:cNvGraphicFramePr/>
          <p:nvPr/>
        </p:nvGraphicFramePr>
        <p:xfrm>
          <a:off x="6858000" y="1234440"/>
          <a:ext cx="4937760" cy="4023360"/>
        </p:xfrm>
        <a:graphic xmlns:a="http://schemas.openxmlformats.org/drawingml/2006/main">
          <a:graphicData uri="http://schemas.openxmlformats.org/drawingml/2006/chart">
            <c:chart xmlns:c="http://schemas.openxmlformats.org/drawingml/2006/chart" r:id="rId2"/>
          </a:graphicData>
        </a:graphic>
      </p:graphicFrame>
      <p:sp>
        <p:nvSpPr>
          <p:cNvPr id="9" name="Text 5"/>
          <p:cNvSpPr/>
          <p:nvPr/>
        </p:nvSpPr>
        <p:spPr>
          <a:xfrm>
            <a:off x="457200" y="5349240"/>
            <a:ext cx="11274552" cy="868680"/>
          </a:xfrm>
          <a:prstGeom prst="rect">
            <a:avLst/>
          </a:prstGeom>
          <a:noFill/>
          <a:ln/>
        </p:spPr>
        <p:txBody>
          <a:bodyPr wrap="square" lIns="0" tIns="0" rIns="0" bIns="0" rtlCol="0" anchor="ctr"/>
          <a:lstStyle/>
          <a:p>
            <a:pPr indent="0" marL="0">
              <a:buNone/>
            </a:pPr>
            <a:r>
              <a:rPr lang="en-US" sz="1400" b="1" dirty="0">
                <a:solidFill>
                  <a:srgbClr val="1F3864"/>
                </a:solidFill>
                <a:latin typeface="Calibri" pitchFamily="34" charset="0"/>
                <a:ea typeface="Calibri" pitchFamily="34" charset="-122"/>
                <a:cs typeface="Calibri" pitchFamily="34" charset="-120"/>
              </a:rPr>
              <a:t>Same quantity and category mix, ~40% lower price per unit. </a:t>
            </a:r>
            <a:pPr indent="0" marL="0">
              <a:buNone/>
            </a:pPr>
            <a:r>
              <a:rPr lang="en-US" sz="1400" dirty="0">
                <a:solidFill>
                  <a:srgbClr val="222222"/>
                </a:solidFill>
                <a:latin typeface="Calibri" pitchFamily="34" charset="0"/>
                <a:ea typeface="Calibri" pitchFamily="34" charset="-122"/>
                <a:cs typeface="Calibri" pitchFamily="34" charset="-120"/>
              </a:rPr>
              <a:t>No dip in the 14 days after a sale (p = 0.36), so the orders look incremental. The 7-day events gained +65–75%; the 10–12 day events only +18% (7 events: a hypothesis to test).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F3864"/>
          </a:solidFill>
          <a:ln w="12700">
            <a:solidFill>
              <a:srgbClr val="1F3864"/>
            </a:solidFill>
            <a:prstDash val="solid"/>
          </a:ln>
        </p:spPr>
      </p:sp>
      <p:sp>
        <p:nvSpPr>
          <p:cNvPr id="3" name="Text 1"/>
          <p:cNvSpPr/>
          <p:nvPr/>
        </p:nvSpPr>
        <p:spPr>
          <a:xfrm>
            <a:off x="457200" y="109728"/>
            <a:ext cx="11274552"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Ratings and returns break at day 6</a:t>
            </a:r>
            <a:endParaRPr lang="en-US" sz="2400" dirty="0"/>
          </a:p>
        </p:txBody>
      </p:sp>
      <p:sp>
        <p:nvSpPr>
          <p:cNvPr id="4" name="Text 2"/>
          <p:cNvSpPr/>
          <p:nvPr/>
        </p:nvSpPr>
        <p:spPr>
          <a:xfrm>
            <a:off x="457200" y="658368"/>
            <a:ext cx="11274552" cy="310896"/>
          </a:xfrm>
          <a:prstGeom prst="rect">
            <a:avLst/>
          </a:prstGeom>
          <a:noFill/>
          <a:ln/>
        </p:spPr>
        <p:txBody>
          <a:bodyPr wrap="square" lIns="0" tIns="0" rIns="0" bIns="0" rtlCol="0" anchor="ctr"/>
          <a:lstStyle/>
          <a:p>
            <a:pPr indent="0" marL="0">
              <a:buNone/>
            </a:pPr>
            <a:r>
              <a:rPr lang="en-US" sz="1300" i="1" dirty="0">
                <a:solidFill>
                  <a:srgbClr val="C9D2E0"/>
                </a:solidFill>
                <a:latin typeface="Calibri" pitchFamily="34" charset="0"/>
                <a:ea typeface="Calibri" pitchFamily="34" charset="-122"/>
                <a:cs typeface="Calibri" pitchFamily="34" charset="-120"/>
              </a:rPr>
              <a:t>Online orders by delivery days (no order took exactly 1 day)</a:t>
            </a:r>
            <a:endParaRPr lang="en-US" sz="1300" dirty="0"/>
          </a:p>
        </p:txBody>
      </p:sp>
      <p:sp>
        <p:nvSpPr>
          <p:cNvPr id="5" name="Text 3"/>
          <p:cNvSpPr/>
          <p:nvPr/>
        </p:nvSpPr>
        <p:spPr>
          <a:xfrm>
            <a:off x="457200" y="6510528"/>
            <a:ext cx="64008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Customer Shopping Trends — Executive BI</a:t>
            </a:r>
            <a:endParaRPr lang="en-US" sz="900" dirty="0"/>
          </a:p>
        </p:txBody>
      </p:sp>
      <p:sp>
        <p:nvSpPr>
          <p:cNvPr id="6" name="Text 4"/>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7</a:t>
            </a:r>
            <a:endParaRPr lang="en-US" sz="900" dirty="0"/>
          </a:p>
        </p:txBody>
      </p:sp>
      <p:graphicFrame>
        <p:nvGraphicFramePr>
          <p:cNvPr id="7" name="Chart 0" descr=""/>
          <p:cNvGraphicFramePr/>
          <p:nvPr/>
        </p:nvGraphicFramePr>
        <p:xfrm>
          <a:off x="365760" y="1234440"/>
          <a:ext cx="576072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
          <p:cNvGraphicFramePr/>
          <p:nvPr/>
        </p:nvGraphicFramePr>
        <p:xfrm>
          <a:off x="6217920" y="1234440"/>
          <a:ext cx="5577840" cy="4023360"/>
        </p:xfrm>
        <a:graphic xmlns:a="http://schemas.openxmlformats.org/drawingml/2006/main">
          <a:graphicData uri="http://schemas.openxmlformats.org/drawingml/2006/chart">
            <c:chart xmlns:c="http://schemas.openxmlformats.org/drawingml/2006/chart" r:id="rId2"/>
          </a:graphicData>
        </a:graphic>
      </p:graphicFrame>
      <p:sp>
        <p:nvSpPr>
          <p:cNvPr id="9" name="Text 5"/>
          <p:cNvSpPr/>
          <p:nvPr/>
        </p:nvSpPr>
        <p:spPr>
          <a:xfrm>
            <a:off x="457200" y="5394960"/>
            <a:ext cx="11274552" cy="731520"/>
          </a:xfrm>
          <a:prstGeom prst="rect">
            <a:avLst/>
          </a:prstGeom>
          <a:noFill/>
          <a:ln/>
        </p:spPr>
        <p:txBody>
          <a:bodyPr wrap="square" lIns="0" tIns="0" rIns="0" bIns="0" rtlCol="0" anchor="ctr"/>
          <a:lstStyle/>
          <a:p>
            <a:pPr indent="0" marL="0">
              <a:buNone/>
            </a:pPr>
            <a:r>
              <a:rPr lang="en-US" sz="1600" b="1" dirty="0">
                <a:solidFill>
                  <a:srgbClr val="C00000"/>
                </a:solidFill>
                <a:latin typeface="Calibri" pitchFamily="34" charset="0"/>
                <a:ea typeface="Calibri" pitchFamily="34" charset="-122"/>
                <a:cs typeface="Calibri" pitchFamily="34" charset="-120"/>
              </a:rPr>
              <a:t>3,007 orders (39% of online) take 6+ days. </a:t>
            </a:r>
            <a:pPr indent="0" marL="0">
              <a:buNone/>
            </a:pPr>
            <a:r>
              <a:rPr lang="en-US" sz="1600" dirty="0">
                <a:solidFill>
                  <a:srgbClr val="222222"/>
                </a:solidFill>
                <a:latin typeface="Calibri" pitchFamily="34" charset="0"/>
                <a:ea typeface="Calibri" pitchFamily="34" charset="-122"/>
                <a:cs typeface="Calibri" pitchFamily="34" charset="-120"/>
              </a:rPr>
              <a:t>They are rated 3.42 vs 4.08 and returned 21.8% vs 16.5% (Spearman ρ = -0.31, p &lt; 0.001).</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F3864"/>
          </a:solidFill>
          <a:ln w="12700">
            <a:solidFill>
              <a:srgbClr val="1F3864"/>
            </a:solidFill>
            <a:prstDash val="solid"/>
          </a:ln>
        </p:spPr>
      </p:sp>
      <p:sp>
        <p:nvSpPr>
          <p:cNvPr id="3" name="Text 1"/>
          <p:cNvSpPr/>
          <p:nvPr/>
        </p:nvSpPr>
        <p:spPr>
          <a:xfrm>
            <a:off x="457200" y="109728"/>
            <a:ext cx="11274552"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It is the days, not the delivery tier or the category</a:t>
            </a:r>
            <a:endParaRPr lang="en-US" sz="2400" dirty="0"/>
          </a:p>
        </p:txBody>
      </p:sp>
      <p:sp>
        <p:nvSpPr>
          <p:cNvPr id="4" name="Text 2"/>
          <p:cNvSpPr/>
          <p:nvPr/>
        </p:nvSpPr>
        <p:spPr>
          <a:xfrm>
            <a:off x="457200" y="658368"/>
            <a:ext cx="11274552" cy="310896"/>
          </a:xfrm>
          <a:prstGeom prst="rect">
            <a:avLst/>
          </a:prstGeom>
          <a:noFill/>
          <a:ln/>
        </p:spPr>
        <p:txBody>
          <a:bodyPr wrap="square" lIns="0" tIns="0" rIns="0" bIns="0" rtlCol="0" anchor="ctr"/>
          <a:lstStyle/>
          <a:p>
            <a:pPr indent="0" marL="0">
              <a:buNone/>
            </a:pPr>
            <a:r>
              <a:rPr lang="en-US" sz="1300" i="1" dirty="0">
                <a:solidFill>
                  <a:srgbClr val="C9D2E0"/>
                </a:solidFill>
                <a:latin typeface="Calibri" pitchFamily="34" charset="0"/>
                <a:ea typeface="Calibri" pitchFamily="34" charset="-122"/>
                <a:cs typeface="Calibri" pitchFamily="34" charset="-120"/>
              </a:rPr>
              <a:t>The effect survives the obvious alternative explanations</a:t>
            </a:r>
            <a:endParaRPr lang="en-US" sz="1300" dirty="0"/>
          </a:p>
        </p:txBody>
      </p:sp>
      <p:sp>
        <p:nvSpPr>
          <p:cNvPr id="5" name="Text 3"/>
          <p:cNvSpPr/>
          <p:nvPr/>
        </p:nvSpPr>
        <p:spPr>
          <a:xfrm>
            <a:off x="457200" y="6510528"/>
            <a:ext cx="64008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Customer Shopping Trends — Executive BI</a:t>
            </a:r>
            <a:endParaRPr lang="en-US" sz="900" dirty="0"/>
          </a:p>
        </p:txBody>
      </p:sp>
      <p:sp>
        <p:nvSpPr>
          <p:cNvPr id="6" name="Text 4"/>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017520"/>
                <a:gridCol w="2011680"/>
                <a:gridCol w="2011680"/>
                <a:gridCol w="2011680"/>
                <a:gridCol w="2011680"/>
              </a:tblGrid>
              <a:tr h="47548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Category</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Rating ≤5 days</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Rating 6+ days</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Returns ≤5 days</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Returns 6+ days</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75488">
                <a:tc>
                  <a:txBody>
                    <a:bodyPr/>
                    <a:lstStyle/>
                    <a:p>
                      <a:pPr algn="l" indent="0" marL="0">
                        <a:buNone/>
                      </a:pPr>
                      <a:r>
                        <a:rPr lang="en-US" sz="1400" b="1" dirty="0">
                          <a:solidFill>
                            <a:srgbClr val="222222"/>
                          </a:solidFill>
                          <a:latin typeface="Calibri" pitchFamily="34" charset="0"/>
                          <a:ea typeface="Calibri" pitchFamily="34" charset="-122"/>
                          <a:cs typeface="Calibri" pitchFamily="34" charset="-120"/>
                        </a:rPr>
                        <a:t>Accessories</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4.09</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00000"/>
                          </a:solidFill>
                          <a:latin typeface="Calibri" pitchFamily="34" charset="0"/>
                          <a:ea typeface="Calibri" pitchFamily="34" charset="-122"/>
                          <a:cs typeface="Calibri" pitchFamily="34" charset="-120"/>
                        </a:rPr>
                        <a:t>3.44</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11.2%</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00000"/>
                          </a:solidFill>
                          <a:latin typeface="Calibri" pitchFamily="34" charset="0"/>
                          <a:ea typeface="Calibri" pitchFamily="34" charset="-122"/>
                          <a:cs typeface="Calibri" pitchFamily="34" charset="-120"/>
                        </a:rPr>
                        <a:t>16.5%</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75488">
                <a:tc>
                  <a:txBody>
                    <a:bodyPr/>
                    <a:lstStyle/>
                    <a:p>
                      <a:pPr algn="l" indent="0" marL="0">
                        <a:buNone/>
                      </a:pPr>
                      <a:r>
                        <a:rPr lang="en-US" sz="1400" b="1" dirty="0">
                          <a:solidFill>
                            <a:srgbClr val="222222"/>
                          </a:solidFill>
                          <a:latin typeface="Calibri" pitchFamily="34" charset="0"/>
                          <a:ea typeface="Calibri" pitchFamily="34" charset="-122"/>
                          <a:cs typeface="Calibri" pitchFamily="34" charset="-120"/>
                        </a:rPr>
                        <a:t>Clothing</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4.09</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ctr" indent="0" marL="0">
                        <a:buNone/>
                      </a:pPr>
                      <a:r>
                        <a:rPr lang="en-US" sz="1400" dirty="0">
                          <a:solidFill>
                            <a:srgbClr val="C00000"/>
                          </a:solidFill>
                          <a:latin typeface="Calibri" pitchFamily="34" charset="0"/>
                          <a:ea typeface="Calibri" pitchFamily="34" charset="-122"/>
                          <a:cs typeface="Calibri" pitchFamily="34" charset="-120"/>
                        </a:rPr>
                        <a:t>3.38</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18.4%</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ctr" indent="0" marL="0">
                        <a:buNone/>
                      </a:pPr>
                      <a:r>
                        <a:rPr lang="en-US" sz="1400" dirty="0">
                          <a:solidFill>
                            <a:srgbClr val="C00000"/>
                          </a:solidFill>
                          <a:latin typeface="Calibri" pitchFamily="34" charset="0"/>
                          <a:ea typeface="Calibri" pitchFamily="34" charset="-122"/>
                          <a:cs typeface="Calibri" pitchFamily="34" charset="-120"/>
                        </a:rPr>
                        <a:t>23.3%</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r>
              <a:tr h="475488">
                <a:tc>
                  <a:txBody>
                    <a:bodyPr/>
                    <a:lstStyle/>
                    <a:p>
                      <a:pPr algn="l" indent="0" marL="0">
                        <a:buNone/>
                      </a:pPr>
                      <a:r>
                        <a:rPr lang="en-US" sz="1400" b="1" dirty="0">
                          <a:solidFill>
                            <a:srgbClr val="222222"/>
                          </a:solidFill>
                          <a:latin typeface="Calibri" pitchFamily="34" charset="0"/>
                          <a:ea typeface="Calibri" pitchFamily="34" charset="-122"/>
                          <a:cs typeface="Calibri" pitchFamily="34" charset="-120"/>
                        </a:rPr>
                        <a:t>Footwear</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4.05</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00000"/>
                          </a:solidFill>
                          <a:latin typeface="Calibri" pitchFamily="34" charset="0"/>
                          <a:ea typeface="Calibri" pitchFamily="34" charset="-122"/>
                          <a:cs typeface="Calibri" pitchFamily="34" charset="-120"/>
                        </a:rPr>
                        <a:t>3.49</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17.3%</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C00000"/>
                          </a:solidFill>
                          <a:latin typeface="Calibri" pitchFamily="34" charset="0"/>
                          <a:ea typeface="Calibri" pitchFamily="34" charset="-122"/>
                          <a:cs typeface="Calibri" pitchFamily="34" charset="-120"/>
                        </a:rPr>
                        <a:t>23.0%</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75488">
                <a:tc>
                  <a:txBody>
                    <a:bodyPr/>
                    <a:lstStyle/>
                    <a:p>
                      <a:pPr algn="l" indent="0" marL="0">
                        <a:buNone/>
                      </a:pPr>
                      <a:r>
                        <a:rPr lang="en-US" sz="1400" b="1" dirty="0">
                          <a:solidFill>
                            <a:srgbClr val="222222"/>
                          </a:solidFill>
                          <a:latin typeface="Calibri" pitchFamily="34" charset="0"/>
                          <a:ea typeface="Calibri" pitchFamily="34" charset="-122"/>
                          <a:cs typeface="Calibri" pitchFamily="34" charset="-120"/>
                        </a:rPr>
                        <a:t>Standard tier only</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4.04</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ctr" indent="0" marL="0">
                        <a:buNone/>
                      </a:pPr>
                      <a:r>
                        <a:rPr lang="en-US" sz="1400" dirty="0">
                          <a:solidFill>
                            <a:srgbClr val="C00000"/>
                          </a:solidFill>
                          <a:latin typeface="Calibri" pitchFamily="34" charset="0"/>
                          <a:ea typeface="Calibri" pitchFamily="34" charset="-122"/>
                          <a:cs typeface="Calibri" pitchFamily="34" charset="-120"/>
                        </a:rPr>
                        <a:t>3.42</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ctr" indent="0" marL="0">
                        <a:buNone/>
                      </a:pPr>
                      <a:r>
                        <a:rPr lang="en-US" sz="1400" dirty="0">
                          <a:solidFill>
                            <a:srgbClr val="222222"/>
                          </a:solidFill>
                          <a:latin typeface="Calibri" pitchFamily="34" charset="0"/>
                          <a:ea typeface="Calibri" pitchFamily="34" charset="-122"/>
                          <a:cs typeface="Calibri" pitchFamily="34" charset="-120"/>
                        </a:rPr>
                        <a:t>16.7%</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ctr" indent="0" marL="0">
                        <a:buNone/>
                      </a:pPr>
                      <a:r>
                        <a:rPr lang="en-US" sz="1400" dirty="0">
                          <a:solidFill>
                            <a:srgbClr val="C00000"/>
                          </a:solidFill>
                          <a:latin typeface="Calibri" pitchFamily="34" charset="0"/>
                          <a:ea typeface="Calibri" pitchFamily="34" charset="-122"/>
                          <a:cs typeface="Calibri" pitchFamily="34" charset="-120"/>
                        </a:rPr>
                        <a:t>21.8%</a:t>
                      </a:r>
                      <a:endParaRPr lang="en-US" sz="14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r>
            </a:tbl>
          </a:graphicData>
        </a:graphic>
      </p:graphicFrame>
      <p:sp>
        <p:nvSpPr>
          <p:cNvPr id="8" name="Shape 5"/>
          <p:cNvSpPr/>
          <p:nvPr/>
        </p:nvSpPr>
        <p:spPr>
          <a:xfrm>
            <a:off x="548640" y="4114800"/>
            <a:ext cx="3566160" cy="1554480"/>
          </a:xfrm>
          <a:prstGeom prst="rect">
            <a:avLst/>
          </a:prstGeom>
          <a:solidFill>
            <a:srgbClr val="F2F4F7"/>
          </a:solidFill>
          <a:ln w="9525">
            <a:solidFill>
              <a:srgbClr val="E3E7ED"/>
            </a:solidFill>
            <a:prstDash val="solid"/>
          </a:ln>
        </p:spPr>
      </p:sp>
      <p:sp>
        <p:nvSpPr>
          <p:cNvPr id="9" name="Text 6"/>
          <p:cNvSpPr/>
          <p:nvPr/>
        </p:nvSpPr>
        <p:spPr>
          <a:xfrm>
            <a:off x="548640" y="4224528"/>
            <a:ext cx="3566160" cy="808330"/>
          </a:xfrm>
          <a:prstGeom prst="rect">
            <a:avLst/>
          </a:prstGeom>
          <a:noFill/>
          <a:ln/>
        </p:spPr>
        <p:txBody>
          <a:bodyPr wrap="square" lIns="0" tIns="0" rIns="0" bIns="0" rtlCol="0" anchor="ctr"/>
          <a:lstStyle/>
          <a:p>
            <a:pPr algn="ctr" indent="0" marL="0">
              <a:buNone/>
            </a:pPr>
            <a:r>
              <a:rPr lang="en-US" sz="2800" b="1" dirty="0">
                <a:solidFill>
                  <a:srgbClr val="C00000"/>
                </a:solidFill>
                <a:latin typeface="Calibri" pitchFamily="34" charset="0"/>
                <a:ea typeface="Calibri" pitchFamily="34" charset="-122"/>
                <a:cs typeface="Calibri" pitchFamily="34" charset="-120"/>
              </a:rPr>
              <a:t>₹299K</a:t>
            </a:r>
            <a:endParaRPr lang="en-US" sz="2800" dirty="0"/>
          </a:p>
        </p:txBody>
      </p:sp>
      <p:sp>
        <p:nvSpPr>
          <p:cNvPr id="10" name="Text 7"/>
          <p:cNvSpPr/>
          <p:nvPr/>
        </p:nvSpPr>
        <p:spPr>
          <a:xfrm>
            <a:off x="640080" y="5016398"/>
            <a:ext cx="3383280" cy="559613"/>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extra returned revenue from late orders</a:t>
            </a:r>
            <a:endParaRPr lang="en-US" sz="1200" dirty="0"/>
          </a:p>
        </p:txBody>
      </p:sp>
      <p:sp>
        <p:nvSpPr>
          <p:cNvPr id="11" name="Shape 8"/>
          <p:cNvSpPr/>
          <p:nvPr/>
        </p:nvSpPr>
        <p:spPr>
          <a:xfrm>
            <a:off x="4297680" y="4114800"/>
            <a:ext cx="3566160" cy="1554480"/>
          </a:xfrm>
          <a:prstGeom prst="rect">
            <a:avLst/>
          </a:prstGeom>
          <a:solidFill>
            <a:srgbClr val="F2F4F7"/>
          </a:solidFill>
          <a:ln w="9525">
            <a:solidFill>
              <a:srgbClr val="E3E7ED"/>
            </a:solidFill>
            <a:prstDash val="solid"/>
          </a:ln>
        </p:spPr>
      </p:sp>
      <p:sp>
        <p:nvSpPr>
          <p:cNvPr id="12" name="Text 9"/>
          <p:cNvSpPr/>
          <p:nvPr/>
        </p:nvSpPr>
        <p:spPr>
          <a:xfrm>
            <a:off x="4297680" y="4224528"/>
            <a:ext cx="3566160" cy="808330"/>
          </a:xfrm>
          <a:prstGeom prst="rect">
            <a:avLst/>
          </a:prstGeom>
          <a:noFill/>
          <a:ln/>
        </p:spPr>
        <p:txBody>
          <a:bodyPr wrap="square" lIns="0" tIns="0" rIns="0" bIns="0"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30%</a:t>
            </a:r>
            <a:endParaRPr lang="en-US" sz="2800" dirty="0"/>
          </a:p>
        </p:txBody>
      </p:sp>
      <p:sp>
        <p:nvSpPr>
          <p:cNvPr id="13" name="Text 10"/>
          <p:cNvSpPr/>
          <p:nvPr/>
        </p:nvSpPr>
        <p:spPr>
          <a:xfrm>
            <a:off x="4389120" y="5016398"/>
            <a:ext cx="3383280" cy="559613"/>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of revenue is on 6+ day orders</a:t>
            </a:r>
            <a:endParaRPr lang="en-US" sz="1200" dirty="0"/>
          </a:p>
        </p:txBody>
      </p:sp>
      <p:sp>
        <p:nvSpPr>
          <p:cNvPr id="14" name="Shape 11"/>
          <p:cNvSpPr/>
          <p:nvPr/>
        </p:nvSpPr>
        <p:spPr>
          <a:xfrm>
            <a:off x="8046720" y="4114800"/>
            <a:ext cx="3566160" cy="1554480"/>
          </a:xfrm>
          <a:prstGeom prst="rect">
            <a:avLst/>
          </a:prstGeom>
          <a:solidFill>
            <a:srgbClr val="F2F4F7"/>
          </a:solidFill>
          <a:ln w="9525">
            <a:solidFill>
              <a:srgbClr val="E3E7ED"/>
            </a:solidFill>
            <a:prstDash val="solid"/>
          </a:ln>
        </p:spPr>
      </p:sp>
      <p:sp>
        <p:nvSpPr>
          <p:cNvPr id="15" name="Text 12"/>
          <p:cNvSpPr/>
          <p:nvPr/>
        </p:nvSpPr>
        <p:spPr>
          <a:xfrm>
            <a:off x="8046720" y="4224528"/>
            <a:ext cx="3566160" cy="808330"/>
          </a:xfrm>
          <a:prstGeom prst="rect">
            <a:avLst/>
          </a:prstGeom>
          <a:noFill/>
          <a:ln/>
        </p:spPr>
        <p:txBody>
          <a:bodyPr wrap="square" lIns="0" tIns="0" rIns="0" bIns="0"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18.6%</a:t>
            </a:r>
            <a:endParaRPr lang="en-US" sz="2800" dirty="0"/>
          </a:p>
        </p:txBody>
      </p:sp>
      <p:sp>
        <p:nvSpPr>
          <p:cNvPr id="16" name="Text 13"/>
          <p:cNvSpPr/>
          <p:nvPr/>
        </p:nvSpPr>
        <p:spPr>
          <a:xfrm>
            <a:off x="8138160" y="5016398"/>
            <a:ext cx="3383280" cy="559613"/>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of all sales value is returned</a:t>
            </a:r>
            <a:endParaRPr lang="en-US" sz="1200" dirty="0"/>
          </a:p>
        </p:txBody>
      </p:sp>
      <p:sp>
        <p:nvSpPr>
          <p:cNvPr id="17" name="Text 14"/>
          <p:cNvSpPr/>
          <p:nvPr/>
        </p:nvSpPr>
        <p:spPr>
          <a:xfrm>
            <a:off x="548640" y="5852160"/>
            <a:ext cx="10972800" cy="365760"/>
          </a:xfrm>
          <a:prstGeom prst="rect">
            <a:avLst/>
          </a:prstGeom>
          <a:noFill/>
          <a:ln/>
        </p:spPr>
        <p:txBody>
          <a:bodyPr wrap="square" lIns="0" tIns="0" rIns="0" bIns="0" rtlCol="0" anchor="ctr"/>
          <a:lstStyle/>
          <a:p>
            <a:pPr indent="0" marL="0">
              <a:buNone/>
            </a:pPr>
            <a:r>
              <a:rPr lang="en-US" sz="1300" i="1" dirty="0">
                <a:solidFill>
                  <a:srgbClr val="44546A"/>
                </a:solidFill>
                <a:latin typeface="Calibri" pitchFamily="34" charset="0"/>
                <a:ea typeface="Calibri" pitchFamily="34" charset="-122"/>
                <a:cs typeface="Calibri" pitchFamily="34" charset="-120"/>
              </a:rPr>
              <a:t>Standard-tier comparison: p &lt; 0.001 for ratings and for returns.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F3864"/>
          </a:solidFill>
          <a:ln w="12700">
            <a:solidFill>
              <a:srgbClr val="1F3864"/>
            </a:solidFill>
            <a:prstDash val="solid"/>
          </a:ln>
        </p:spPr>
      </p:sp>
      <p:sp>
        <p:nvSpPr>
          <p:cNvPr id="3" name="Text 1"/>
          <p:cNvSpPr/>
          <p:nvPr/>
        </p:nvSpPr>
        <p:spPr>
          <a:xfrm>
            <a:off x="457200" y="109728"/>
            <a:ext cx="11274552"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Gender, not age, decides what people buy</a:t>
            </a:r>
            <a:endParaRPr lang="en-US" sz="2400" dirty="0"/>
          </a:p>
        </p:txBody>
      </p:sp>
      <p:sp>
        <p:nvSpPr>
          <p:cNvPr id="4" name="Text 2"/>
          <p:cNvSpPr/>
          <p:nvPr/>
        </p:nvSpPr>
        <p:spPr>
          <a:xfrm>
            <a:off x="457200" y="658368"/>
            <a:ext cx="11274552" cy="310896"/>
          </a:xfrm>
          <a:prstGeom prst="rect">
            <a:avLst/>
          </a:prstGeom>
          <a:noFill/>
          <a:ln/>
        </p:spPr>
        <p:txBody>
          <a:bodyPr wrap="square" lIns="0" tIns="0" rIns="0" bIns="0" rtlCol="0" anchor="ctr"/>
          <a:lstStyle/>
          <a:p>
            <a:pPr indent="0" marL="0">
              <a:buNone/>
            </a:pPr>
            <a:r>
              <a:rPr lang="en-US" sz="1300" i="1" dirty="0">
                <a:solidFill>
                  <a:srgbClr val="C9D2E0"/>
                </a:solidFill>
                <a:latin typeface="Calibri" pitchFamily="34" charset="0"/>
                <a:ea typeface="Calibri" pitchFamily="34" charset="-122"/>
                <a:cs typeface="Calibri" pitchFamily="34" charset="-120"/>
              </a:rPr>
              <a:t>Category mix by age bracket, and traditional wear by age and gender</a:t>
            </a:r>
            <a:endParaRPr lang="en-US" sz="1300" dirty="0"/>
          </a:p>
        </p:txBody>
      </p:sp>
      <p:sp>
        <p:nvSpPr>
          <p:cNvPr id="5" name="Text 3"/>
          <p:cNvSpPr/>
          <p:nvPr/>
        </p:nvSpPr>
        <p:spPr>
          <a:xfrm>
            <a:off x="457200" y="6510528"/>
            <a:ext cx="64008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Customer Shopping Trends — Executive BI</a:t>
            </a:r>
            <a:endParaRPr lang="en-US" sz="900" dirty="0"/>
          </a:p>
        </p:txBody>
      </p:sp>
      <p:sp>
        <p:nvSpPr>
          <p:cNvPr id="6" name="Text 4"/>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9</a:t>
            </a:r>
            <a:endParaRPr lang="en-US" sz="900" dirty="0"/>
          </a:p>
        </p:txBody>
      </p:sp>
      <p:graphicFrame>
        <p:nvGraphicFramePr>
          <p:cNvPr id="7" name="Chart 0" descr=""/>
          <p:cNvGraphicFramePr/>
          <p:nvPr/>
        </p:nvGraphicFramePr>
        <p:xfrm>
          <a:off x="365760" y="1234440"/>
          <a:ext cx="5852160" cy="4114800"/>
        </p:xfrm>
        <a:graphic xmlns:a="http://schemas.openxmlformats.org/drawingml/2006/main">
          <a:graphicData uri="http://schemas.openxmlformats.org/drawingml/2006/chart">
            <c:chart xmlns:c="http://schemas.openxmlformats.org/drawingml/2006/chart" r:id="rId1"/>
          </a:graphicData>
        </a:graphic>
      </p:graphicFrame>
      <p:graphicFrame>
        <p:nvGraphicFramePr>
          <p:cNvPr id="8" name="Chart 1" descr=""/>
          <p:cNvGraphicFramePr/>
          <p:nvPr/>
        </p:nvGraphicFramePr>
        <p:xfrm>
          <a:off x="6309360" y="1234440"/>
          <a:ext cx="5486400" cy="4114800"/>
        </p:xfrm>
        <a:graphic xmlns:a="http://schemas.openxmlformats.org/drawingml/2006/main">
          <a:graphicData uri="http://schemas.openxmlformats.org/drawingml/2006/chart">
            <c:chart xmlns:c="http://schemas.openxmlformats.org/drawingml/2006/chart" r:id="rId2"/>
          </a:graphicData>
        </a:graphic>
      </p:graphicFrame>
      <p:sp>
        <p:nvSpPr>
          <p:cNvPr id="9" name="Text 5"/>
          <p:cNvSpPr/>
          <p:nvPr/>
        </p:nvSpPr>
        <p:spPr>
          <a:xfrm>
            <a:off x="457200" y="5440680"/>
            <a:ext cx="11274552" cy="777240"/>
          </a:xfrm>
          <a:prstGeom prst="rect">
            <a:avLst/>
          </a:prstGeom>
          <a:noFill/>
          <a:ln/>
        </p:spPr>
        <p:txBody>
          <a:bodyPr wrap="square" lIns="0" tIns="0" rIns="0" bIns="0" rtlCol="0" anchor="ctr"/>
          <a:lstStyle/>
          <a:p>
            <a:pPr indent="0" marL="0">
              <a:buNone/>
            </a:pPr>
            <a:r>
              <a:rPr lang="en-US" sz="1400" b="1" dirty="0">
                <a:solidFill>
                  <a:srgbClr val="1F3864"/>
                </a:solidFill>
                <a:latin typeface="Calibri" pitchFamily="34" charset="0"/>
                <a:ea typeface="Calibri" pitchFamily="34" charset="-122"/>
                <a:cs typeface="Calibri" pitchFamily="34" charset="-120"/>
              </a:rPr>
              <a:t>Age: no difference (p = 0.82 for category mix, 0.31 for traditional wear). </a:t>
            </a:r>
            <a:pPr indent="0" marL="0">
              <a:buNone/>
            </a:pPr>
            <a:r>
              <a:rPr lang="en-US" sz="1400" dirty="0">
                <a:solidFill>
                  <a:srgbClr val="222222"/>
                </a:solidFill>
                <a:latin typeface="Calibri" pitchFamily="34" charset="0"/>
                <a:ea typeface="Calibri" pitchFamily="34" charset="-122"/>
                <a:cs typeface="Calibri" pitchFamily="34" charset="-120"/>
              </a:rPr>
              <a:t>Footwear is 28% of orders but 42% of revenue. Seven metros give 65% of revenue; Delhi customers order less often than other metros'.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F3864"/>
          </a:solidFill>
          <a:ln w="12700">
            <a:solidFill>
              <a:srgbClr val="1F3864"/>
            </a:solidFill>
            <a:prstDash val="solid"/>
          </a:ln>
        </p:spPr>
      </p:sp>
      <p:sp>
        <p:nvSpPr>
          <p:cNvPr id="3" name="Text 1"/>
          <p:cNvSpPr/>
          <p:nvPr/>
        </p:nvSpPr>
        <p:spPr>
          <a:xfrm>
            <a:off x="457200" y="109728"/>
            <a:ext cx="11274552"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28% of customers generate 63% of revenue</a:t>
            </a:r>
            <a:endParaRPr lang="en-US" sz="2400" dirty="0"/>
          </a:p>
        </p:txBody>
      </p:sp>
      <p:sp>
        <p:nvSpPr>
          <p:cNvPr id="4" name="Text 2"/>
          <p:cNvSpPr/>
          <p:nvPr/>
        </p:nvSpPr>
        <p:spPr>
          <a:xfrm>
            <a:off x="457200" y="658368"/>
            <a:ext cx="11274552" cy="310896"/>
          </a:xfrm>
          <a:prstGeom prst="rect">
            <a:avLst/>
          </a:prstGeom>
          <a:noFill/>
          <a:ln/>
        </p:spPr>
        <p:txBody>
          <a:bodyPr wrap="square" lIns="0" tIns="0" rIns="0" bIns="0" rtlCol="0" anchor="ctr"/>
          <a:lstStyle/>
          <a:p>
            <a:pPr indent="0" marL="0">
              <a:buNone/>
            </a:pPr>
            <a:r>
              <a:rPr lang="en-US" sz="1300" i="1" dirty="0">
                <a:solidFill>
                  <a:srgbClr val="C9D2E0"/>
                </a:solidFill>
                <a:latin typeface="Calibri" pitchFamily="34" charset="0"/>
                <a:ea typeface="Calibri" pitchFamily="34" charset="-122"/>
                <a:cs typeface="Calibri" pitchFamily="34" charset="-120"/>
              </a:rPr>
              <a:t>RFM segmentation of 2,581 customers (snapshot 1 January 2025)</a:t>
            </a:r>
            <a:endParaRPr lang="en-US" sz="1300" dirty="0"/>
          </a:p>
        </p:txBody>
      </p:sp>
      <p:sp>
        <p:nvSpPr>
          <p:cNvPr id="5" name="Text 3"/>
          <p:cNvSpPr/>
          <p:nvPr/>
        </p:nvSpPr>
        <p:spPr>
          <a:xfrm>
            <a:off x="457200" y="6510528"/>
            <a:ext cx="64008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Customer Shopping Trends — Executive BI</a:t>
            </a:r>
            <a:endParaRPr lang="en-US" sz="900" dirty="0"/>
          </a:p>
        </p:txBody>
      </p:sp>
      <p:sp>
        <p:nvSpPr>
          <p:cNvPr id="6" name="Text 4"/>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10</a:t>
            </a:r>
            <a:endParaRPr lang="en-US" sz="900" dirty="0"/>
          </a:p>
        </p:txBody>
      </p:sp>
      <p:graphicFrame>
        <p:nvGraphicFramePr>
          <p:cNvPr id="7" name="Chart 0" descr=""/>
          <p:cNvGraphicFramePr/>
          <p:nvPr/>
        </p:nvGraphicFramePr>
        <p:xfrm>
          <a:off x="365760" y="1234440"/>
          <a:ext cx="594360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92240" y="1325880"/>
          <a:ext cx="5303520" cy="914400"/>
        </p:xfrm>
        <a:graphic>
          <a:graphicData uri="http://schemas.openxmlformats.org/drawingml/2006/table">
            <a:tbl>
              <a:tblPr/>
              <a:tblGrid>
                <a:gridCol w="1737360"/>
                <a:gridCol w="868680"/>
                <a:gridCol w="960120"/>
                <a:gridCol w="640080"/>
                <a:gridCol w="1097280"/>
              </a:tblGrid>
              <a:tr h="41148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Segment</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Customers</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Last order (days)</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Orders</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Avg spend</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11480">
                <a:tc>
                  <a:txBody>
                    <a:bodyPr/>
                    <a:lstStyle/>
                    <a:p>
                      <a:pPr algn="l" indent="0" marL="0">
                        <a:buNone/>
                      </a:pPr>
                      <a:r>
                        <a:rPr lang="en-US" sz="1200" b="1" dirty="0">
                          <a:solidFill>
                            <a:srgbClr val="222222"/>
                          </a:solidFill>
                          <a:latin typeface="Calibri" pitchFamily="34" charset="0"/>
                          <a:ea typeface="Calibri" pitchFamily="34" charset="-122"/>
                          <a:cs typeface="Calibri" pitchFamily="34" charset="-120"/>
                        </a:rPr>
                        <a:t>Champions</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732</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59</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8.0</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₹16,279</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200" b="1" dirty="0">
                          <a:solidFill>
                            <a:srgbClr val="222222"/>
                          </a:solidFill>
                          <a:latin typeface="Calibri" pitchFamily="34" charset="0"/>
                          <a:ea typeface="Calibri" pitchFamily="34" charset="-122"/>
                          <a:cs typeface="Calibri" pitchFamily="34" charset="-120"/>
                        </a:rPr>
                        <a:t>Loyal Customers</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579</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3.6</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₹6,583</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r>
              <a:tr h="411480">
                <a:tc>
                  <a:txBody>
                    <a:bodyPr/>
                    <a:lstStyle/>
                    <a:p>
                      <a:pPr algn="l" indent="0" marL="0">
                        <a:buNone/>
                      </a:pPr>
                      <a:r>
                        <a:rPr lang="en-US" sz="1200" b="1" dirty="0">
                          <a:solidFill>
                            <a:srgbClr val="222222"/>
                          </a:solidFill>
                          <a:latin typeface="Calibri" pitchFamily="34" charset="0"/>
                          <a:ea typeface="Calibri" pitchFamily="34" charset="-122"/>
                          <a:cs typeface="Calibri" pitchFamily="34" charset="-120"/>
                        </a:rPr>
                        <a:t>Potential Loyalists</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522</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216</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₹3,752</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11480">
                <a:tc>
                  <a:txBody>
                    <a:bodyPr/>
                    <a:lstStyle/>
                    <a:p>
                      <a:pPr algn="l" indent="0" marL="0">
                        <a:buNone/>
                      </a:pPr>
                      <a:r>
                        <a:rPr lang="en-US" sz="1200" b="1" dirty="0">
                          <a:solidFill>
                            <a:srgbClr val="222222"/>
                          </a:solidFill>
                          <a:latin typeface="Calibri" pitchFamily="34" charset="0"/>
                          <a:ea typeface="Calibri" pitchFamily="34" charset="-122"/>
                          <a:cs typeface="Calibri" pitchFamily="34" charset="-120"/>
                        </a:rPr>
                        <a:t>At Risk</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496</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343</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1.3</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₹2,003</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r>
              <a:tr h="411480">
                <a:tc>
                  <a:txBody>
                    <a:bodyPr/>
                    <a:lstStyle/>
                    <a:p>
                      <a:pPr algn="l" indent="0" marL="0">
                        <a:buNone/>
                      </a:pPr>
                      <a:r>
                        <a:rPr lang="en-US" sz="1200" b="1" dirty="0">
                          <a:solidFill>
                            <a:srgbClr val="222222"/>
                          </a:solidFill>
                          <a:latin typeface="Calibri" pitchFamily="34" charset="0"/>
                          <a:ea typeface="Calibri" pitchFamily="34" charset="-122"/>
                          <a:cs typeface="Calibri" pitchFamily="34" charset="-120"/>
                        </a:rPr>
                        <a:t>Lost/Hibernating</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252</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530</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Calibri" pitchFamily="34" charset="0"/>
                          <a:ea typeface="Calibri" pitchFamily="34" charset="-122"/>
                          <a:cs typeface="Calibri" pitchFamily="34" charset="-120"/>
                        </a:rPr>
                        <a:t>₹866</a:t>
                      </a:r>
                      <a:endParaRPr lang="en-US" sz="12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9" name="Text 5"/>
          <p:cNvSpPr/>
          <p:nvPr/>
        </p:nvSpPr>
        <p:spPr>
          <a:xfrm>
            <a:off x="6492240" y="4114800"/>
            <a:ext cx="5303520" cy="1645920"/>
          </a:xfrm>
          <a:prstGeom prst="rect">
            <a:avLst/>
          </a:prstGeom>
          <a:noFill/>
          <a:ln/>
        </p:spPr>
        <p:txBody>
          <a:bodyPr wrap="square" lIns="0" tIns="0" rIns="0" bIns="0" rtlCol="0" anchor="t"/>
          <a:lstStyle/>
          <a:p>
            <a:pPr indent="0" marL="0">
              <a:spcAft>
                <a:spcPts val="600"/>
              </a:spcAft>
              <a:buNone/>
            </a:pPr>
            <a:r>
              <a:rPr lang="en-US" sz="1400" b="1" dirty="0">
                <a:solidFill>
                  <a:srgbClr val="1F3864"/>
                </a:solidFill>
                <a:latin typeface="Calibri" pitchFamily="34" charset="0"/>
                <a:ea typeface="Calibri" pitchFamily="34" charset="-122"/>
                <a:cs typeface="Calibri" pitchFamily="34" charset="-120"/>
              </a:rPr>
              <a:t>Top 10% of customers: 38% of revenue. </a:t>
            </a:r>
            <a:endParaRPr lang="en-US" sz="1400" dirty="0"/>
          </a:p>
          <a:p>
            <a:pPr indent="0" marL="0">
              <a:spcAft>
                <a:spcPts val="600"/>
              </a:spcAft>
              <a:buNone/>
            </a:pPr>
            <a:r>
              <a:rPr lang="en-US" sz="1400" dirty="0">
                <a:solidFill>
                  <a:srgbClr val="222222"/>
                </a:solidFill>
                <a:latin typeface="Calibri" pitchFamily="34" charset="0"/>
                <a:ea typeface="Calibri" pitchFamily="34" charset="-122"/>
                <a:cs typeface="Calibri" pitchFamily="34" charset="-120"/>
              </a:rPr>
              <a:t>748 At Risk + Lost customers hold ₹1.21M of past spend. 711 customers (28%) have ordered only once.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F3864"/>
          </a:solidFill>
          <a:ln w="12700">
            <a:solidFill>
              <a:srgbClr val="1F3864"/>
            </a:solidFill>
            <a:prstDash val="solid"/>
          </a:ln>
        </p:spPr>
      </p:sp>
      <p:sp>
        <p:nvSpPr>
          <p:cNvPr id="3" name="Text 1"/>
          <p:cNvSpPr/>
          <p:nvPr/>
        </p:nvSpPr>
        <p:spPr>
          <a:xfrm>
            <a:off x="457200" y="109728"/>
            <a:ext cx="11274552"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Retention is healthy; acquisition has fallen away</a:t>
            </a:r>
            <a:endParaRPr lang="en-US" sz="2400" dirty="0"/>
          </a:p>
        </p:txBody>
      </p:sp>
      <p:sp>
        <p:nvSpPr>
          <p:cNvPr id="4" name="Text 2"/>
          <p:cNvSpPr/>
          <p:nvPr/>
        </p:nvSpPr>
        <p:spPr>
          <a:xfrm>
            <a:off x="457200" y="658368"/>
            <a:ext cx="11274552" cy="310896"/>
          </a:xfrm>
          <a:prstGeom prst="rect">
            <a:avLst/>
          </a:prstGeom>
          <a:noFill/>
          <a:ln/>
        </p:spPr>
        <p:txBody>
          <a:bodyPr wrap="square" lIns="0" tIns="0" rIns="0" bIns="0" rtlCol="0" anchor="ctr"/>
          <a:lstStyle/>
          <a:p>
            <a:pPr indent="0" marL="0">
              <a:buNone/>
            </a:pPr>
            <a:r>
              <a:rPr lang="en-US" sz="1300" i="1" dirty="0">
                <a:solidFill>
                  <a:srgbClr val="C9D2E0"/>
                </a:solidFill>
                <a:latin typeface="Calibri" pitchFamily="34" charset="0"/>
                <a:ea typeface="Calibri" pitchFamily="34" charset="-122"/>
                <a:cs typeface="Calibri" pitchFamily="34" charset="-120"/>
              </a:rPr>
              <a:t>New customers by month of first order</a:t>
            </a:r>
            <a:endParaRPr lang="en-US" sz="1300" dirty="0"/>
          </a:p>
        </p:txBody>
      </p:sp>
      <p:sp>
        <p:nvSpPr>
          <p:cNvPr id="5" name="Text 3"/>
          <p:cNvSpPr/>
          <p:nvPr/>
        </p:nvSpPr>
        <p:spPr>
          <a:xfrm>
            <a:off x="457200" y="6510528"/>
            <a:ext cx="64008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Customer Shopping Trends — Executive BI</a:t>
            </a:r>
            <a:endParaRPr lang="en-US" sz="900" dirty="0"/>
          </a:p>
        </p:txBody>
      </p:sp>
      <p:sp>
        <p:nvSpPr>
          <p:cNvPr id="6" name="Text 4"/>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11</a:t>
            </a:r>
            <a:endParaRPr lang="en-US" sz="900" dirty="0"/>
          </a:p>
        </p:txBody>
      </p:sp>
      <p:graphicFrame>
        <p:nvGraphicFramePr>
          <p:cNvPr id="7" name="Chart 0" descr=""/>
          <p:cNvGraphicFramePr/>
          <p:nvPr/>
        </p:nvGraphicFramePr>
        <p:xfrm>
          <a:off x="365760" y="1234440"/>
          <a:ext cx="7315200" cy="45720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955280" y="1325880"/>
            <a:ext cx="3840480" cy="1325880"/>
          </a:xfrm>
          <a:prstGeom prst="rect">
            <a:avLst/>
          </a:prstGeom>
          <a:solidFill>
            <a:srgbClr val="F2F4F7"/>
          </a:solidFill>
          <a:ln w="9525">
            <a:solidFill>
              <a:srgbClr val="E3E7ED"/>
            </a:solidFill>
            <a:prstDash val="solid"/>
          </a:ln>
        </p:spPr>
      </p:sp>
      <p:sp>
        <p:nvSpPr>
          <p:cNvPr id="9" name="Text 6"/>
          <p:cNvSpPr/>
          <p:nvPr/>
        </p:nvSpPr>
        <p:spPr>
          <a:xfrm>
            <a:off x="7955280" y="1435608"/>
            <a:ext cx="3840480" cy="689458"/>
          </a:xfrm>
          <a:prstGeom prst="rect">
            <a:avLst/>
          </a:prstGeom>
          <a:noFill/>
          <a:ln/>
        </p:spPr>
        <p:txBody>
          <a:bodyPr wrap="square" lIns="0" tIns="0" rIns="0" bIns="0" rtlCol="0" anchor="ctr"/>
          <a:lstStyle/>
          <a:p>
            <a:pPr algn="ctr" indent="0" marL="0">
              <a:buNone/>
            </a:pPr>
            <a:r>
              <a:rPr lang="en-US" sz="2800" b="1" dirty="0">
                <a:solidFill>
                  <a:srgbClr val="C00000"/>
                </a:solidFill>
                <a:latin typeface="Calibri" pitchFamily="34" charset="0"/>
                <a:ea typeface="Calibri" pitchFamily="34" charset="-122"/>
                <a:cs typeface="Calibri" pitchFamily="34" charset="-120"/>
              </a:rPr>
              <a:t>2,011 → 570</a:t>
            </a:r>
            <a:endParaRPr lang="en-US" sz="2800" dirty="0"/>
          </a:p>
        </p:txBody>
      </p:sp>
      <p:sp>
        <p:nvSpPr>
          <p:cNvPr id="10" name="Text 7"/>
          <p:cNvSpPr/>
          <p:nvPr/>
        </p:nvSpPr>
        <p:spPr>
          <a:xfrm>
            <a:off x="8046720" y="2094890"/>
            <a:ext cx="3657600" cy="477317"/>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first-time customers, 2023 → 2024</a:t>
            </a:r>
            <a:endParaRPr lang="en-US" sz="1200" dirty="0"/>
          </a:p>
        </p:txBody>
      </p:sp>
      <p:sp>
        <p:nvSpPr>
          <p:cNvPr id="11" name="Shape 8"/>
          <p:cNvSpPr/>
          <p:nvPr/>
        </p:nvSpPr>
        <p:spPr>
          <a:xfrm>
            <a:off x="7955280" y="2788920"/>
            <a:ext cx="3840480" cy="1325880"/>
          </a:xfrm>
          <a:prstGeom prst="rect">
            <a:avLst/>
          </a:prstGeom>
          <a:solidFill>
            <a:srgbClr val="F2F4F7"/>
          </a:solidFill>
          <a:ln w="9525">
            <a:solidFill>
              <a:srgbClr val="E3E7ED"/>
            </a:solidFill>
            <a:prstDash val="solid"/>
          </a:ln>
        </p:spPr>
      </p:sp>
      <p:sp>
        <p:nvSpPr>
          <p:cNvPr id="12" name="Text 9"/>
          <p:cNvSpPr/>
          <p:nvPr/>
        </p:nvSpPr>
        <p:spPr>
          <a:xfrm>
            <a:off x="7955280" y="2898648"/>
            <a:ext cx="3840480" cy="689458"/>
          </a:xfrm>
          <a:prstGeom prst="rect">
            <a:avLst/>
          </a:prstGeom>
          <a:noFill/>
          <a:ln/>
        </p:spPr>
        <p:txBody>
          <a:bodyPr wrap="square" lIns="0" tIns="0" rIns="0" bIns="0"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73%</a:t>
            </a:r>
            <a:endParaRPr lang="en-US" sz="2800" dirty="0"/>
          </a:p>
        </p:txBody>
      </p:sp>
      <p:sp>
        <p:nvSpPr>
          <p:cNvPr id="13" name="Text 10"/>
          <p:cNvSpPr/>
          <p:nvPr/>
        </p:nvSpPr>
        <p:spPr>
          <a:xfrm>
            <a:off x="8046720" y="3557930"/>
            <a:ext cx="3657600" cy="477317"/>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of 2023 customers ordered again in 2024</a:t>
            </a:r>
            <a:endParaRPr lang="en-US" sz="1200" dirty="0"/>
          </a:p>
        </p:txBody>
      </p:sp>
      <p:sp>
        <p:nvSpPr>
          <p:cNvPr id="14" name="Shape 11"/>
          <p:cNvSpPr/>
          <p:nvPr/>
        </p:nvSpPr>
        <p:spPr>
          <a:xfrm>
            <a:off x="7955280" y="4251960"/>
            <a:ext cx="3840480" cy="1325880"/>
          </a:xfrm>
          <a:prstGeom prst="rect">
            <a:avLst/>
          </a:prstGeom>
          <a:solidFill>
            <a:srgbClr val="F2F4F7"/>
          </a:solidFill>
          <a:ln w="9525">
            <a:solidFill>
              <a:srgbClr val="E3E7ED"/>
            </a:solidFill>
            <a:prstDash val="solid"/>
          </a:ln>
        </p:spPr>
      </p:sp>
      <p:sp>
        <p:nvSpPr>
          <p:cNvPr id="15" name="Text 12"/>
          <p:cNvSpPr/>
          <p:nvPr/>
        </p:nvSpPr>
        <p:spPr>
          <a:xfrm>
            <a:off x="7955280" y="4361688"/>
            <a:ext cx="3840480" cy="689458"/>
          </a:xfrm>
          <a:prstGeom prst="rect">
            <a:avLst/>
          </a:prstGeom>
          <a:noFill/>
          <a:ln/>
        </p:spPr>
        <p:txBody>
          <a:bodyPr wrap="square" lIns="0" tIns="0" rIns="0" bIns="0" rtlCol="0" anchor="ctr"/>
          <a:lstStyle/>
          <a:p>
            <a:pPr algn="ctr" indent="0" marL="0">
              <a:buNone/>
            </a:pPr>
            <a:r>
              <a:rPr lang="en-US" sz="2800" b="1" dirty="0">
                <a:solidFill>
                  <a:srgbClr val="1F3864"/>
                </a:solidFill>
                <a:latin typeface="Calibri" pitchFamily="34" charset="0"/>
                <a:ea typeface="Calibri" pitchFamily="34" charset="-122"/>
                <a:cs typeface="Calibri" pitchFamily="34" charset="-120"/>
              </a:rPr>
              <a:t>83%</a:t>
            </a:r>
            <a:endParaRPr lang="en-US" sz="2800" dirty="0"/>
          </a:p>
        </p:txBody>
      </p:sp>
      <p:sp>
        <p:nvSpPr>
          <p:cNvPr id="16" name="Text 13"/>
          <p:cNvSpPr/>
          <p:nvPr/>
        </p:nvSpPr>
        <p:spPr>
          <a:xfrm>
            <a:off x="8046720" y="5020970"/>
            <a:ext cx="3657600" cy="477317"/>
          </a:xfrm>
          <a:prstGeom prst="rect">
            <a:avLst/>
          </a:prstGeom>
          <a:noFill/>
          <a:ln/>
        </p:spPr>
        <p:txBody>
          <a:bodyPr wrap="square" lIns="0" tIns="0" rIns="0" bIns="0" rtlCol="0" anchor="t"/>
          <a:lstStyle/>
          <a:p>
            <a:pPr algn="ctr" indent="0" marL="0">
              <a:buNone/>
            </a:pPr>
            <a:r>
              <a:rPr lang="en-US" sz="1200" dirty="0">
                <a:solidFill>
                  <a:srgbClr val="44546A"/>
                </a:solidFill>
                <a:latin typeface="Calibri" pitchFamily="34" charset="0"/>
                <a:ea typeface="Calibri" pitchFamily="34" charset="-122"/>
                <a:cs typeface="Calibri" pitchFamily="34" charset="-120"/>
              </a:rPr>
              <a:t>of 2024 revenue from the 2023 base</a:t>
            </a:r>
            <a:endParaRPr lang="en-US" sz="1200" dirty="0"/>
          </a:p>
        </p:txBody>
      </p:sp>
      <p:sp>
        <p:nvSpPr>
          <p:cNvPr id="17" name="Text 14"/>
          <p:cNvSpPr/>
          <p:nvPr/>
        </p:nvSpPr>
        <p:spPr>
          <a:xfrm>
            <a:off x="457200" y="5852160"/>
            <a:ext cx="11274552" cy="548640"/>
          </a:xfrm>
          <a:prstGeom prst="rect">
            <a:avLst/>
          </a:prstGeom>
          <a:noFill/>
          <a:ln/>
        </p:spPr>
        <p:txBody>
          <a:bodyPr wrap="square" lIns="0" tIns="0" rIns="0" bIns="0" rtlCol="0" anchor="ctr"/>
          <a:lstStyle/>
          <a:p>
            <a:pPr indent="0" marL="0">
              <a:buNone/>
            </a:pPr>
            <a:r>
              <a:rPr lang="en-US" sz="1200" i="1" dirty="0">
                <a:solidFill>
                  <a:srgbClr val="C00000"/>
                </a:solidFill>
                <a:latin typeface="Calibri" pitchFamily="34" charset="0"/>
                <a:ea typeface="Calibri" pitchFamily="34" charset="-122"/>
                <a:cs typeface="Calibri" pitchFamily="34" charset="-120"/>
              </a:rPr>
              <a:t>Caution: the file has no history before 2023, and a fixed customer pool in synthetic data also produces a falling new-customer curve. Verify against real acquisition data.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F3864"/>
          </a:solidFill>
          <a:ln w="12700">
            <a:solidFill>
              <a:srgbClr val="1F3864"/>
            </a:solidFill>
            <a:prstDash val="solid"/>
          </a:ln>
        </p:spPr>
      </p:sp>
      <p:sp>
        <p:nvSpPr>
          <p:cNvPr id="3" name="Text 1"/>
          <p:cNvSpPr/>
          <p:nvPr/>
        </p:nvSpPr>
        <p:spPr>
          <a:xfrm>
            <a:off x="457200" y="109728"/>
            <a:ext cx="11274552"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Risks and opportunities</a:t>
            </a:r>
            <a:endParaRPr lang="en-US" sz="2400" dirty="0"/>
          </a:p>
        </p:txBody>
      </p:sp>
      <p:sp>
        <p:nvSpPr>
          <p:cNvPr id="4" name="Text 2"/>
          <p:cNvSpPr/>
          <p:nvPr/>
        </p:nvSpPr>
        <p:spPr>
          <a:xfrm>
            <a:off x="457200" y="658368"/>
            <a:ext cx="11274552" cy="310896"/>
          </a:xfrm>
          <a:prstGeom prst="rect">
            <a:avLst/>
          </a:prstGeom>
          <a:noFill/>
          <a:ln/>
        </p:spPr>
        <p:txBody>
          <a:bodyPr wrap="square" lIns="0" tIns="0" rIns="0" bIns="0" rtlCol="0" anchor="ctr"/>
          <a:lstStyle/>
          <a:p>
            <a:pPr indent="0" marL="0">
              <a:buNone/>
            </a:pPr>
            <a:r>
              <a:rPr lang="en-US" sz="1300" i="1" dirty="0">
                <a:solidFill>
                  <a:srgbClr val="C9D2E0"/>
                </a:solidFill>
                <a:latin typeface="Calibri" pitchFamily="34" charset="0"/>
                <a:ea typeface="Calibri" pitchFamily="34" charset="-122"/>
                <a:cs typeface="Calibri" pitchFamily="34" charset="-120"/>
              </a:rPr>
              <a:t>What could hurt, and where the upside is</a:t>
            </a:r>
            <a:endParaRPr lang="en-US" sz="1300" dirty="0"/>
          </a:p>
        </p:txBody>
      </p:sp>
      <p:sp>
        <p:nvSpPr>
          <p:cNvPr id="5" name="Text 3"/>
          <p:cNvSpPr/>
          <p:nvPr/>
        </p:nvSpPr>
        <p:spPr>
          <a:xfrm>
            <a:off x="457200" y="6510528"/>
            <a:ext cx="64008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Customer Shopping Trends — Executive BI</a:t>
            </a:r>
            <a:endParaRPr lang="en-US" sz="900" dirty="0"/>
          </a:p>
        </p:txBody>
      </p:sp>
      <p:sp>
        <p:nvSpPr>
          <p:cNvPr id="6" name="Text 4"/>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457200" y="1280160"/>
            <a:ext cx="5532120" cy="457200"/>
          </a:xfrm>
          <a:prstGeom prst="rect">
            <a:avLst/>
          </a:prstGeom>
          <a:solidFill>
            <a:srgbClr val="C00000"/>
          </a:solidFill>
          <a:ln w="12700">
            <a:solidFill>
              <a:srgbClr val="C00000"/>
            </a:solidFill>
            <a:prstDash val="solid"/>
          </a:ln>
        </p:spPr>
      </p:sp>
      <p:sp>
        <p:nvSpPr>
          <p:cNvPr id="8" name="Text 6"/>
          <p:cNvSpPr/>
          <p:nvPr/>
        </p:nvSpPr>
        <p:spPr>
          <a:xfrm>
            <a:off x="594360" y="1280160"/>
            <a:ext cx="53035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Risks</a:t>
            </a:r>
            <a:endParaRPr lang="en-US" sz="1800" dirty="0"/>
          </a:p>
        </p:txBody>
      </p:sp>
      <p:sp>
        <p:nvSpPr>
          <p:cNvPr id="9" name="Text 7"/>
          <p:cNvSpPr/>
          <p:nvPr/>
        </p:nvSpPr>
        <p:spPr>
          <a:xfrm>
            <a:off x="548640" y="1920240"/>
            <a:ext cx="5349240" cy="429768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rgbClr val="222222"/>
                </a:solidFill>
                <a:latin typeface="Calibri" pitchFamily="34" charset="0"/>
                <a:ea typeface="Calibri" pitchFamily="34" charset="-122"/>
                <a:cs typeface="Calibri" pitchFamily="34" charset="-120"/>
              </a:rPr>
              <a:t>Falling acquisition: 83% of 2024 revenue depends on the 2023 base</a:t>
            </a:r>
            <a:endParaRPr lang="en-US" sz="1700" dirty="0"/>
          </a:p>
          <a:p>
            <a:pPr marL="342900" indent="-342900">
              <a:spcAft>
                <a:spcPts val="900"/>
              </a:spcAft>
              <a:buSzPct val="100000"/>
              <a:buChar char="•"/>
            </a:pPr>
            <a:r>
              <a:rPr lang="en-US" sz="1700" dirty="0">
                <a:solidFill>
                  <a:srgbClr val="222222"/>
                </a:solidFill>
                <a:latin typeface="Calibri" pitchFamily="34" charset="0"/>
                <a:ea typeface="Calibri" pitchFamily="34" charset="-122"/>
                <a:cs typeface="Calibri" pitchFamily="34" charset="-120"/>
              </a:rPr>
              <a:t>39% of online orders sit beyond the day-5 delivery cliff</a:t>
            </a:r>
            <a:endParaRPr lang="en-US" sz="1700" dirty="0"/>
          </a:p>
          <a:p>
            <a:pPr marL="342900" indent="-342900">
              <a:spcAft>
                <a:spcPts val="900"/>
              </a:spcAft>
              <a:buSzPct val="100000"/>
              <a:buChar char="•"/>
            </a:pPr>
            <a:r>
              <a:rPr lang="en-US" sz="1700" dirty="0">
                <a:solidFill>
                  <a:srgbClr val="222222"/>
                </a:solidFill>
                <a:latin typeface="Calibri" pitchFamily="34" charset="0"/>
                <a:ea typeface="Calibri" pitchFamily="34" charset="-122"/>
                <a:cs typeface="Calibri" pitchFamily="34" charset="-120"/>
              </a:rPr>
              <a:t>Concentration: Champions give 63% of revenue</a:t>
            </a:r>
            <a:endParaRPr lang="en-US" sz="1700" dirty="0"/>
          </a:p>
          <a:p>
            <a:pPr marL="342900" indent="-342900">
              <a:spcAft>
                <a:spcPts val="900"/>
              </a:spcAft>
              <a:buSzPct val="100000"/>
              <a:buChar char="•"/>
            </a:pPr>
            <a:r>
              <a:rPr lang="en-US" sz="1700" dirty="0">
                <a:solidFill>
                  <a:srgbClr val="222222"/>
                </a:solidFill>
                <a:latin typeface="Calibri" pitchFamily="34" charset="0"/>
                <a:ea typeface="Calibri" pitchFamily="34" charset="-122"/>
                <a:cs typeface="Calibri" pitchFamily="34" charset="-120"/>
              </a:rPr>
              <a:t>18.6% of sales value (₹3.51M) is returned</a:t>
            </a:r>
            <a:endParaRPr lang="en-US" sz="1700" dirty="0"/>
          </a:p>
          <a:p>
            <a:pPr marL="342900" indent="-342900">
              <a:spcAft>
                <a:spcPts val="900"/>
              </a:spcAft>
              <a:buSzPct val="100000"/>
              <a:buChar char="•"/>
            </a:pPr>
            <a:r>
              <a:rPr lang="en-US" sz="1700" dirty="0">
                <a:solidFill>
                  <a:srgbClr val="222222"/>
                </a:solidFill>
                <a:latin typeface="Calibri" pitchFamily="34" charset="0"/>
                <a:ea typeface="Calibri" pitchFamily="34" charset="-122"/>
                <a:cs typeface="Calibri" pitchFamily="34" charset="-120"/>
              </a:rPr>
              <a:t>Margin is invisible: sale baskets 41% smaller, discount data unreliable</a:t>
            </a:r>
            <a:endParaRPr lang="en-US" sz="1700" dirty="0"/>
          </a:p>
          <a:p>
            <a:pPr marL="342900" indent="-342900">
              <a:spcAft>
                <a:spcPts val="900"/>
              </a:spcAft>
              <a:buSzPct val="100000"/>
              <a:buChar char="•"/>
            </a:pPr>
            <a:r>
              <a:rPr lang="en-US" sz="1700" dirty="0">
                <a:solidFill>
                  <a:srgbClr val="222222"/>
                </a:solidFill>
                <a:latin typeface="Calibri" pitchFamily="34" charset="0"/>
                <a:ea typeface="Calibri" pitchFamily="34" charset="-122"/>
                <a:cs typeface="Calibri" pitchFamily="34" charset="-120"/>
              </a:rPr>
              <a:t>Subscription waives ~₹109K of shipping with no measurable lift</a:t>
            </a:r>
            <a:endParaRPr lang="en-US" sz="1700" dirty="0"/>
          </a:p>
        </p:txBody>
      </p:sp>
      <p:sp>
        <p:nvSpPr>
          <p:cNvPr id="10" name="Shape 8"/>
          <p:cNvSpPr/>
          <p:nvPr/>
        </p:nvSpPr>
        <p:spPr>
          <a:xfrm>
            <a:off x="6263640" y="1280160"/>
            <a:ext cx="5532120" cy="457200"/>
          </a:xfrm>
          <a:prstGeom prst="rect">
            <a:avLst/>
          </a:prstGeom>
          <a:solidFill>
            <a:srgbClr val="2E7D6E"/>
          </a:solidFill>
          <a:ln w="12700">
            <a:solidFill>
              <a:srgbClr val="2E7D6E"/>
            </a:solidFill>
            <a:prstDash val="solid"/>
          </a:ln>
        </p:spPr>
      </p:sp>
      <p:sp>
        <p:nvSpPr>
          <p:cNvPr id="11" name="Text 9"/>
          <p:cNvSpPr/>
          <p:nvPr/>
        </p:nvSpPr>
        <p:spPr>
          <a:xfrm>
            <a:off x="6400800" y="1280160"/>
            <a:ext cx="53035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Opportunities</a:t>
            </a:r>
            <a:endParaRPr lang="en-US" sz="1800" dirty="0"/>
          </a:p>
        </p:txBody>
      </p:sp>
      <p:sp>
        <p:nvSpPr>
          <p:cNvPr id="12" name="Text 10"/>
          <p:cNvSpPr/>
          <p:nvPr/>
        </p:nvSpPr>
        <p:spPr>
          <a:xfrm>
            <a:off x="6355080" y="1920240"/>
            <a:ext cx="5349240" cy="4297680"/>
          </a:xfrm>
          <a:prstGeom prst="rect">
            <a:avLst/>
          </a:prstGeom>
          <a:noFill/>
          <a:ln/>
        </p:spPr>
        <p:txBody>
          <a:bodyPr wrap="square" lIns="0" tIns="0" rIns="0" bIns="0" rtlCol="0" anchor="t"/>
          <a:lstStyle/>
          <a:p>
            <a:pPr marL="342900" indent="-342900">
              <a:spcAft>
                <a:spcPts val="900"/>
              </a:spcAft>
              <a:buSzPct val="100000"/>
              <a:buChar char="•"/>
            </a:pPr>
            <a:r>
              <a:rPr lang="en-US" sz="1700" dirty="0">
                <a:solidFill>
                  <a:srgbClr val="222222"/>
                </a:solidFill>
                <a:latin typeface="Calibri" pitchFamily="34" charset="0"/>
                <a:ea typeface="Calibri" pitchFamily="34" charset="-122"/>
                <a:cs typeface="Calibri" pitchFamily="34" charset="-120"/>
              </a:rPr>
              <a:t>Fix delivery: +0.66 stars on 39% of online orders, ~₹299K of returns</a:t>
            </a:r>
            <a:endParaRPr lang="en-US" sz="1700" dirty="0"/>
          </a:p>
          <a:p>
            <a:pPr marL="342900" indent="-342900">
              <a:spcAft>
                <a:spcPts val="900"/>
              </a:spcAft>
              <a:buSzPct val="100000"/>
              <a:buChar char="•"/>
            </a:pPr>
            <a:r>
              <a:rPr lang="en-US" sz="1700" dirty="0">
                <a:solidFill>
                  <a:srgbClr val="222222"/>
                </a:solidFill>
                <a:latin typeface="Calibri" pitchFamily="34" charset="0"/>
                <a:ea typeface="Calibri" pitchFamily="34" charset="-122"/>
                <a:cs typeface="Calibri" pitchFamily="34" charset="-120"/>
              </a:rPr>
              <a:t>Win back 748 lapsed customers (₹1.21M past spend)</a:t>
            </a:r>
            <a:endParaRPr lang="en-US" sz="1700" dirty="0"/>
          </a:p>
          <a:p>
            <a:pPr marL="342900" indent="-342900">
              <a:spcAft>
                <a:spcPts val="900"/>
              </a:spcAft>
              <a:buSzPct val="100000"/>
              <a:buChar char="•"/>
            </a:pPr>
            <a:r>
              <a:rPr lang="en-US" sz="1700" dirty="0">
                <a:solidFill>
                  <a:srgbClr val="222222"/>
                </a:solidFill>
                <a:latin typeface="Calibri" pitchFamily="34" charset="0"/>
                <a:ea typeface="Calibri" pitchFamily="34" charset="-122"/>
                <a:cs typeface="Calibri" pitchFamily="34" charset="-120"/>
              </a:rPr>
              <a:t>Shorter sale events: +65–75% lift vs +18% for longer ones</a:t>
            </a:r>
            <a:endParaRPr lang="en-US" sz="1700" dirty="0"/>
          </a:p>
          <a:p>
            <a:pPr marL="342900" indent="-342900">
              <a:spcAft>
                <a:spcPts val="900"/>
              </a:spcAft>
              <a:buSzPct val="100000"/>
              <a:buChar char="•"/>
            </a:pPr>
            <a:r>
              <a:rPr lang="en-US" sz="1700" dirty="0">
                <a:solidFill>
                  <a:srgbClr val="222222"/>
                </a:solidFill>
                <a:latin typeface="Calibri" pitchFamily="34" charset="0"/>
                <a:ea typeface="Calibri" pitchFamily="34" charset="-122"/>
                <a:cs typeface="Calibri" pitchFamily="34" charset="-120"/>
              </a:rPr>
              <a:t>Target by gender and category, not age</a:t>
            </a:r>
            <a:endParaRPr lang="en-US" sz="1700" dirty="0"/>
          </a:p>
          <a:p>
            <a:pPr marL="342900" indent="-342900">
              <a:spcAft>
                <a:spcPts val="900"/>
              </a:spcAft>
              <a:buSzPct val="100000"/>
              <a:buChar char="•"/>
            </a:pPr>
            <a:r>
              <a:rPr lang="en-US" sz="1700" dirty="0">
                <a:solidFill>
                  <a:srgbClr val="222222"/>
                </a:solidFill>
                <a:latin typeface="Calibri" pitchFamily="34" charset="0"/>
                <a:ea typeface="Calibri" pitchFamily="34" charset="-122"/>
                <a:cs typeface="Calibri" pitchFamily="34" charset="-120"/>
              </a:rPr>
              <a:t>Lift Delhi's order frequency (about 18% below other metros)</a:t>
            </a:r>
            <a:endParaRPr lang="en-US" sz="1700" dirty="0"/>
          </a:p>
          <a:p>
            <a:pPr marL="342900" indent="-342900">
              <a:spcAft>
                <a:spcPts val="900"/>
              </a:spcAft>
              <a:buSzPct val="100000"/>
              <a:buChar char="•"/>
            </a:pPr>
            <a:r>
              <a:rPr lang="en-US" sz="1700" dirty="0">
                <a:solidFill>
                  <a:srgbClr val="222222"/>
                </a:solidFill>
                <a:latin typeface="Calibri" pitchFamily="34" charset="0"/>
                <a:ea typeface="Calibri" pitchFamily="34" charset="-122"/>
                <a:cs typeface="Calibri" pitchFamily="34" charset="-120"/>
              </a:rPr>
              <a:t>Bundle low-return accessories with footwear and clothing</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F3864"/>
          </a:solidFill>
          <a:ln w="12700">
            <a:solidFill>
              <a:srgbClr val="1F3864"/>
            </a:solidFill>
            <a:prstDash val="solid"/>
          </a:ln>
        </p:spPr>
      </p:sp>
      <p:sp>
        <p:nvSpPr>
          <p:cNvPr id="3" name="Text 1"/>
          <p:cNvSpPr/>
          <p:nvPr/>
        </p:nvSpPr>
        <p:spPr>
          <a:xfrm>
            <a:off x="457200" y="109728"/>
            <a:ext cx="11274552"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Recommendations (1 of 2): act now</a:t>
            </a:r>
            <a:endParaRPr lang="en-US" sz="2400" dirty="0"/>
          </a:p>
        </p:txBody>
      </p:sp>
      <p:sp>
        <p:nvSpPr>
          <p:cNvPr id="4" name="Text 2"/>
          <p:cNvSpPr/>
          <p:nvPr/>
        </p:nvSpPr>
        <p:spPr>
          <a:xfrm>
            <a:off x="457200" y="658368"/>
            <a:ext cx="11274552" cy="310896"/>
          </a:xfrm>
          <a:prstGeom prst="rect">
            <a:avLst/>
          </a:prstGeom>
          <a:noFill/>
          <a:ln/>
        </p:spPr>
        <p:txBody>
          <a:bodyPr wrap="square" lIns="0" tIns="0" rIns="0" bIns="0" rtlCol="0" anchor="ctr"/>
          <a:lstStyle/>
          <a:p>
            <a:pPr indent="0" marL="0">
              <a:buNone/>
            </a:pPr>
            <a:r>
              <a:rPr lang="en-US" sz="1300" i="1" dirty="0">
                <a:solidFill>
                  <a:srgbClr val="C9D2E0"/>
                </a:solidFill>
                <a:latin typeface="Calibri" pitchFamily="34" charset="0"/>
                <a:ea typeface="Calibri" pitchFamily="34" charset="-122"/>
                <a:cs typeface="Calibri" pitchFamily="34" charset="-120"/>
              </a:rPr>
              <a:t>Action · evidence · metric to track · priority</a:t>
            </a:r>
            <a:endParaRPr lang="en-US" sz="1300" dirty="0"/>
          </a:p>
        </p:txBody>
      </p:sp>
      <p:sp>
        <p:nvSpPr>
          <p:cNvPr id="5" name="Text 3"/>
          <p:cNvSpPr/>
          <p:nvPr/>
        </p:nvSpPr>
        <p:spPr>
          <a:xfrm>
            <a:off x="457200" y="6510528"/>
            <a:ext cx="64008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Customer Shopping Trends — Executive BI</a:t>
            </a:r>
            <a:endParaRPr lang="en-US" sz="900" dirty="0"/>
          </a:p>
        </p:txBody>
      </p:sp>
      <p:sp>
        <p:nvSpPr>
          <p:cNvPr id="6" name="Text 4"/>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280160"/>
          <a:ext cx="11338560" cy="914400"/>
        </p:xfrm>
        <a:graphic>
          <a:graphicData uri="http://schemas.openxmlformats.org/drawingml/2006/table">
            <a:tbl>
              <a:tblPr/>
              <a:tblGrid>
                <a:gridCol w="411480"/>
                <a:gridCol w="2926080"/>
                <a:gridCol w="4572000"/>
                <a:gridCol w="2514600"/>
                <a:gridCol w="914400"/>
              </a:tblGrid>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Priority</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603504">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Cap Standard delivery at 5 days</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3,007 orders take 6+ days: rating 3.42 vs 4.08, returns 21.8% vs 16.5%</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 of online orders over 5 days</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b="1" dirty="0">
                          <a:solidFill>
                            <a:srgbClr val="C00000"/>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03504">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Restart customer acquisition</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First-time customers −72%; verify against real data first</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New customers per month</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b="1" dirty="0">
                          <a:solidFill>
                            <a:srgbClr val="C00000"/>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r>
              <a:tr h="603504">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Run a measured win-back campaign</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748 lapsed customers, ₹1.21M past spend; start with 379 frequent shoppers gone quiet; keep a hold-out</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Reactivation vs hold-out</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b="1" dirty="0">
                          <a:solidFill>
                            <a:srgbClr val="C00000"/>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03504">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Protect the Champions</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28% of customers, 63% of revenue; alert when gap passes 143 days</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Champion retention</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b="1" dirty="0">
                          <a:solidFill>
                            <a:srgbClr val="C00000"/>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r>
              <a:tr h="603504">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Fix the source data</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Inverted discounts, brand crossover, wrong Same Day days</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Data checks passed</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b="1" dirty="0">
                          <a:solidFill>
                            <a:srgbClr val="C00000"/>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03504">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Test the subscription before expanding</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No lift in orders (p = 0.60) or spend (p = 0.52); ~₹109K shipping waived</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Incremental orders (A/B test)</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F3864"/>
          </a:solidFill>
          <a:ln w="12700">
            <a:solidFill>
              <a:srgbClr val="1F3864"/>
            </a:solidFill>
            <a:prstDash val="solid"/>
          </a:ln>
        </p:spPr>
      </p:sp>
      <p:sp>
        <p:nvSpPr>
          <p:cNvPr id="3" name="Text 1"/>
          <p:cNvSpPr/>
          <p:nvPr/>
        </p:nvSpPr>
        <p:spPr>
          <a:xfrm>
            <a:off x="457200" y="109728"/>
            <a:ext cx="11274552"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Recommendations (2 of 2): optimise</a:t>
            </a:r>
            <a:endParaRPr lang="en-US" sz="2400" dirty="0"/>
          </a:p>
        </p:txBody>
      </p:sp>
      <p:sp>
        <p:nvSpPr>
          <p:cNvPr id="4" name="Text 2"/>
          <p:cNvSpPr/>
          <p:nvPr/>
        </p:nvSpPr>
        <p:spPr>
          <a:xfrm>
            <a:off x="457200" y="658368"/>
            <a:ext cx="11274552" cy="310896"/>
          </a:xfrm>
          <a:prstGeom prst="rect">
            <a:avLst/>
          </a:prstGeom>
          <a:noFill/>
          <a:ln/>
        </p:spPr>
        <p:txBody>
          <a:bodyPr wrap="square" lIns="0" tIns="0" rIns="0" bIns="0" rtlCol="0" anchor="ctr"/>
          <a:lstStyle/>
          <a:p>
            <a:pPr indent="0" marL="0">
              <a:buNone/>
            </a:pPr>
            <a:r>
              <a:rPr lang="en-US" sz="1300" i="1" dirty="0">
                <a:solidFill>
                  <a:srgbClr val="C9D2E0"/>
                </a:solidFill>
                <a:latin typeface="Calibri" pitchFamily="34" charset="0"/>
                <a:ea typeface="Calibri" pitchFamily="34" charset="-122"/>
                <a:cs typeface="Calibri" pitchFamily="34" charset="-120"/>
              </a:rPr>
              <a:t>Action · evidence · metric to track · priority</a:t>
            </a:r>
            <a:endParaRPr lang="en-US" sz="1300" dirty="0"/>
          </a:p>
        </p:txBody>
      </p:sp>
      <p:sp>
        <p:nvSpPr>
          <p:cNvPr id="5" name="Text 3"/>
          <p:cNvSpPr/>
          <p:nvPr/>
        </p:nvSpPr>
        <p:spPr>
          <a:xfrm>
            <a:off x="457200" y="6510528"/>
            <a:ext cx="64008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Customer Shopping Trends — Executive BI</a:t>
            </a:r>
            <a:endParaRPr lang="en-US" sz="900" dirty="0"/>
          </a:p>
        </p:txBody>
      </p:sp>
      <p:sp>
        <p:nvSpPr>
          <p:cNvPr id="6" name="Text 4"/>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280160"/>
          <a:ext cx="11338560" cy="914400"/>
        </p:xfrm>
        <a:graphic>
          <a:graphicData uri="http://schemas.openxmlformats.org/drawingml/2006/table">
            <a:tbl>
              <a:tblPr/>
              <a:tblGrid>
                <a:gridCol w="411480"/>
                <a:gridCol w="2926080"/>
                <a:gridCol w="4572000"/>
                <a:gridCol w="2514600"/>
                <a:gridCol w="914400"/>
              </a:tblGrid>
              <a:tr h="603504">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Metric</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Priority</a:t>
                      </a:r>
                      <a:endParaRPr lang="en-US" sz="1300" dirty="0">
                        <a:latin typeface="Calibri" charset="0"/>
                        <a:ea typeface="Calibri" charset="0"/>
                        <a:cs typeface="Calibri" charset="0"/>
                      </a:endParaRPr>
                    </a:p>
                  </a:txBody>
                  <a:tcPr marL="91440" marR="91440" marT="45720" marB="45720">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603504">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Judge sales on margin; test shorter events</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Orders +143%, revenue +44%; 7-day events lift most</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Margin per sale day</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03504">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Reduce returns on Ajio, Myntra, apparel</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Ajio 21.3%, Myntra 19.7% vs Meesho 15.1%; accessories only 12.8%</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Return rate by platform</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r>
              <a:tr h="603504">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Target traditional wear by gender</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41% of women's vs 4% of men's clothing; age has no effect</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Conversion by gender × category</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03504">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Bundle accessories with footwear/clothing</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Accessories: lowest returns (12.8%), lowest order value (₹1,221)</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Average order value</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r>
              <a:tr h="603504">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Close the Delhi frequency gap</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3.2 orders per customer vs 3.6–4.0 in other metros; not delivery</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Orders per Delhi customer</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603504">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Plan on the 2025 baseline</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₹9.26M (±6%); Q1 ₹2.34M</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Quarterly forecast error</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4F7"/>
                    </a:solidFill>
                  </a:tcPr>
                </a:tc>
              </a:tr>
              <a:tr h="603504">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13</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Use declared frequency in CRM</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Weekly shoppers: 10.9 orders vs 1.4 for "rarely"</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dirty="0">
                          <a:solidFill>
                            <a:srgbClr val="222222"/>
                          </a:solidFill>
                          <a:latin typeface="Calibri" pitchFamily="34" charset="0"/>
                          <a:ea typeface="Calibri" pitchFamily="34" charset="-122"/>
                          <a:cs typeface="Calibri" pitchFamily="34" charset="-120"/>
                        </a:rPr>
                        <a:t>Lapse alerts actioned</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indent="0" marL="0">
                        <a:buNone/>
                      </a:pPr>
                      <a:r>
                        <a:rPr lang="en-US" sz="1300" b="1" dirty="0">
                          <a:solidFill>
                            <a:srgbClr val="222222"/>
                          </a:solidFill>
                          <a:latin typeface="Calibri" pitchFamily="34" charset="0"/>
                          <a:ea typeface="Calibri" pitchFamily="34" charset="-122"/>
                          <a:cs typeface="Calibri" pitchFamily="34" charset="-120"/>
                        </a:rPr>
                        <a:t>Low</a:t>
                      </a:r>
                      <a:endParaRPr lang="en-US" sz="1300" dirty="0">
                        <a:latin typeface="Calibri" charset="0"/>
                        <a:ea typeface="Calibri" charset="0"/>
                        <a:cs typeface="Calibri"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051560"/>
          </a:xfrm>
          <a:prstGeom prst="rect">
            <a:avLst/>
          </a:prstGeom>
          <a:solidFill>
            <a:srgbClr val="1F3864"/>
          </a:solidFill>
          <a:ln w="12700">
            <a:solidFill>
              <a:srgbClr val="1F3864"/>
            </a:solidFill>
            <a:prstDash val="solid"/>
          </a:ln>
        </p:spPr>
      </p:sp>
      <p:sp>
        <p:nvSpPr>
          <p:cNvPr id="3" name="Text 1"/>
          <p:cNvSpPr/>
          <p:nvPr/>
        </p:nvSpPr>
        <p:spPr>
          <a:xfrm>
            <a:off x="457200" y="109728"/>
            <a:ext cx="11274552" cy="566928"/>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Next steps: a 30 / 60 / 90 day plan</a:t>
            </a:r>
            <a:endParaRPr lang="en-US" sz="2400" dirty="0"/>
          </a:p>
        </p:txBody>
      </p:sp>
      <p:sp>
        <p:nvSpPr>
          <p:cNvPr id="4" name="Text 2"/>
          <p:cNvSpPr/>
          <p:nvPr/>
        </p:nvSpPr>
        <p:spPr>
          <a:xfrm>
            <a:off x="457200" y="658368"/>
            <a:ext cx="11274552" cy="310896"/>
          </a:xfrm>
          <a:prstGeom prst="rect">
            <a:avLst/>
          </a:prstGeom>
          <a:noFill/>
          <a:ln/>
        </p:spPr>
        <p:txBody>
          <a:bodyPr wrap="square" lIns="0" tIns="0" rIns="0" bIns="0" rtlCol="0" anchor="ctr"/>
          <a:lstStyle/>
          <a:p>
            <a:pPr indent="0" marL="0">
              <a:buNone/>
            </a:pPr>
            <a:r>
              <a:rPr lang="en-US" sz="1300" i="1" dirty="0">
                <a:solidFill>
                  <a:srgbClr val="C9D2E0"/>
                </a:solidFill>
                <a:latin typeface="Calibri" pitchFamily="34" charset="0"/>
                <a:ea typeface="Calibri" pitchFamily="34" charset="-122"/>
                <a:cs typeface="Calibri" pitchFamily="34" charset="-120"/>
              </a:rPr>
              <a:t>Owners to be agreed</a:t>
            </a:r>
            <a:endParaRPr lang="en-US" sz="1300" dirty="0"/>
          </a:p>
        </p:txBody>
      </p:sp>
      <p:sp>
        <p:nvSpPr>
          <p:cNvPr id="5" name="Text 3"/>
          <p:cNvSpPr/>
          <p:nvPr/>
        </p:nvSpPr>
        <p:spPr>
          <a:xfrm>
            <a:off x="457200" y="6510528"/>
            <a:ext cx="6400800" cy="256032"/>
          </a:xfrm>
          <a:prstGeom prst="rect">
            <a:avLst/>
          </a:prstGeom>
          <a:noFill/>
          <a:ln/>
        </p:spPr>
        <p:txBody>
          <a:bodyPr wrap="square" lIns="0" tIns="0" rIns="0" bIns="0" rtlCol="0" anchor="ctr"/>
          <a:lstStyle/>
          <a:p>
            <a:pPr indent="0" marL="0">
              <a:buNone/>
            </a:pPr>
            <a:r>
              <a:rPr lang="en-US" sz="900" dirty="0">
                <a:solidFill>
                  <a:srgbClr val="8A8A8A"/>
                </a:solidFill>
                <a:latin typeface="Calibri" pitchFamily="34" charset="0"/>
                <a:ea typeface="Calibri" pitchFamily="34" charset="-122"/>
                <a:cs typeface="Calibri" pitchFamily="34" charset="-120"/>
              </a:rPr>
              <a:t>Customer Shopping Trends — Executive BI</a:t>
            </a:r>
            <a:endParaRPr lang="en-US" sz="900" dirty="0"/>
          </a:p>
        </p:txBody>
      </p:sp>
      <p:sp>
        <p:nvSpPr>
          <p:cNvPr id="6" name="Text 4"/>
          <p:cNvSpPr/>
          <p:nvPr/>
        </p:nvSpPr>
        <p:spPr>
          <a:xfrm>
            <a:off x="11365992" y="6510528"/>
            <a:ext cx="365760" cy="256032"/>
          </a:xfrm>
          <a:prstGeom prst="rect">
            <a:avLst/>
          </a:prstGeom>
          <a:noFill/>
          <a:ln/>
        </p:spPr>
        <p:txBody>
          <a:bodyPr wrap="square" lIns="0" tIns="0" rIns="0" bIns="0" rtlCol="0" anchor="ctr"/>
          <a:lstStyle/>
          <a:p>
            <a:pPr algn="r" indent="0" marL="0">
              <a:buNone/>
            </a:pPr>
            <a:r>
              <a:rPr lang="en-US" sz="900" dirty="0">
                <a:solidFill>
                  <a:srgbClr val="8A8A8A"/>
                </a:solidFill>
                <a:latin typeface="Calibri" pitchFamily="34" charset="0"/>
                <a:ea typeface="Calibri" pitchFamily="34" charset="-122"/>
                <a:cs typeface="Calibri" pitchFamily="34" charset="-120"/>
              </a:rPr>
              <a:t>15</a:t>
            </a:r>
            <a:endParaRPr lang="en-US" sz="900" dirty="0"/>
          </a:p>
        </p:txBody>
      </p:sp>
      <p:sp>
        <p:nvSpPr>
          <p:cNvPr id="7" name="Shape 5"/>
          <p:cNvSpPr/>
          <p:nvPr/>
        </p:nvSpPr>
        <p:spPr>
          <a:xfrm>
            <a:off x="457200" y="1371600"/>
            <a:ext cx="3611880" cy="594360"/>
          </a:xfrm>
          <a:prstGeom prst="rect">
            <a:avLst/>
          </a:prstGeom>
          <a:solidFill>
            <a:srgbClr val="1F3864"/>
          </a:solidFill>
          <a:ln w="12700">
            <a:solidFill>
              <a:srgbClr val="1F3864"/>
            </a:solidFill>
            <a:prstDash val="solid"/>
          </a:ln>
        </p:spPr>
      </p:sp>
      <p:sp>
        <p:nvSpPr>
          <p:cNvPr id="8" name="Text 6"/>
          <p:cNvSpPr/>
          <p:nvPr/>
        </p:nvSpPr>
        <p:spPr>
          <a:xfrm>
            <a:off x="457200" y="1371600"/>
            <a:ext cx="361188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30 days</a:t>
            </a:r>
            <a:endParaRPr lang="en-US" sz="2000" dirty="0"/>
          </a:p>
        </p:txBody>
      </p:sp>
      <p:sp>
        <p:nvSpPr>
          <p:cNvPr id="9" name="Shape 7"/>
          <p:cNvSpPr/>
          <p:nvPr/>
        </p:nvSpPr>
        <p:spPr>
          <a:xfrm>
            <a:off x="457200" y="1965960"/>
            <a:ext cx="3611880" cy="4023360"/>
          </a:xfrm>
          <a:prstGeom prst="rect">
            <a:avLst/>
          </a:prstGeom>
          <a:solidFill>
            <a:srgbClr val="F2F4F7"/>
          </a:solidFill>
          <a:ln w="12700">
            <a:solidFill>
              <a:srgbClr val="E3E7ED"/>
            </a:solidFill>
            <a:prstDash val="solid"/>
          </a:ln>
        </p:spPr>
      </p:sp>
      <p:sp>
        <p:nvSpPr>
          <p:cNvPr id="10" name="Text 8"/>
          <p:cNvSpPr/>
          <p:nvPr/>
        </p:nvSpPr>
        <p:spPr>
          <a:xfrm>
            <a:off x="640080" y="2148840"/>
            <a:ext cx="3246120" cy="36576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Agree the 5-day delivery SLA with operations</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Start the weekly late-delivery tracker</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Request cost and return-reason data</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Confirm the new-customer decline with real data</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Correct the source-data issues</a:t>
            </a:r>
            <a:endParaRPr lang="en-US" sz="1400" dirty="0"/>
          </a:p>
        </p:txBody>
      </p:sp>
      <p:sp>
        <p:nvSpPr>
          <p:cNvPr id="11" name="Shape 9"/>
          <p:cNvSpPr/>
          <p:nvPr/>
        </p:nvSpPr>
        <p:spPr>
          <a:xfrm>
            <a:off x="4279392" y="1371600"/>
            <a:ext cx="3611880" cy="594360"/>
          </a:xfrm>
          <a:prstGeom prst="rect">
            <a:avLst/>
          </a:prstGeom>
          <a:solidFill>
            <a:srgbClr val="44546A"/>
          </a:solidFill>
          <a:ln w="12700">
            <a:solidFill>
              <a:srgbClr val="44546A"/>
            </a:solidFill>
            <a:prstDash val="solid"/>
          </a:ln>
        </p:spPr>
      </p:sp>
      <p:sp>
        <p:nvSpPr>
          <p:cNvPr id="12" name="Text 10"/>
          <p:cNvSpPr/>
          <p:nvPr/>
        </p:nvSpPr>
        <p:spPr>
          <a:xfrm>
            <a:off x="4279392" y="1371600"/>
            <a:ext cx="361188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60 days</a:t>
            </a:r>
            <a:endParaRPr lang="en-US" sz="2000" dirty="0"/>
          </a:p>
        </p:txBody>
      </p:sp>
      <p:sp>
        <p:nvSpPr>
          <p:cNvPr id="13" name="Shape 11"/>
          <p:cNvSpPr/>
          <p:nvPr/>
        </p:nvSpPr>
        <p:spPr>
          <a:xfrm>
            <a:off x="4279392" y="1965960"/>
            <a:ext cx="3611880" cy="4023360"/>
          </a:xfrm>
          <a:prstGeom prst="rect">
            <a:avLst/>
          </a:prstGeom>
          <a:solidFill>
            <a:srgbClr val="F2F4F7"/>
          </a:solidFill>
          <a:ln w="12700">
            <a:solidFill>
              <a:srgbClr val="E3E7ED"/>
            </a:solidFill>
            <a:prstDash val="solid"/>
          </a:ln>
        </p:spPr>
      </p:sp>
      <p:sp>
        <p:nvSpPr>
          <p:cNvPr id="14" name="Text 12"/>
          <p:cNvSpPr/>
          <p:nvPr/>
        </p:nvSpPr>
        <p:spPr>
          <a:xfrm>
            <a:off x="4462272" y="2148840"/>
            <a:ext cx="3246120" cy="36576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Launch the win-back pilot with a hold-out</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Design the subscription A/B test</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Review Delhi frequency and assortment</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Set up Champion early-warning alerts</a:t>
            </a:r>
            <a:endParaRPr lang="en-US" sz="1400" dirty="0"/>
          </a:p>
        </p:txBody>
      </p:sp>
      <p:sp>
        <p:nvSpPr>
          <p:cNvPr id="15" name="Shape 13"/>
          <p:cNvSpPr/>
          <p:nvPr/>
        </p:nvSpPr>
        <p:spPr>
          <a:xfrm>
            <a:off x="8101584" y="1371600"/>
            <a:ext cx="3611880" cy="594360"/>
          </a:xfrm>
          <a:prstGeom prst="rect">
            <a:avLst/>
          </a:prstGeom>
          <a:solidFill>
            <a:srgbClr val="2E7D6E"/>
          </a:solidFill>
          <a:ln w="12700">
            <a:solidFill>
              <a:srgbClr val="2E7D6E"/>
            </a:solidFill>
            <a:prstDash val="solid"/>
          </a:ln>
        </p:spPr>
      </p:sp>
      <p:sp>
        <p:nvSpPr>
          <p:cNvPr id="16" name="Text 14"/>
          <p:cNvSpPr/>
          <p:nvPr/>
        </p:nvSpPr>
        <p:spPr>
          <a:xfrm>
            <a:off x="8101584" y="1371600"/>
            <a:ext cx="361188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90 days</a:t>
            </a:r>
            <a:endParaRPr lang="en-US" sz="2000" dirty="0"/>
          </a:p>
        </p:txBody>
      </p:sp>
      <p:sp>
        <p:nvSpPr>
          <p:cNvPr id="17" name="Shape 15"/>
          <p:cNvSpPr/>
          <p:nvPr/>
        </p:nvSpPr>
        <p:spPr>
          <a:xfrm>
            <a:off x="8101584" y="1965960"/>
            <a:ext cx="3611880" cy="4023360"/>
          </a:xfrm>
          <a:prstGeom prst="rect">
            <a:avLst/>
          </a:prstGeom>
          <a:solidFill>
            <a:srgbClr val="F2F4F7"/>
          </a:solidFill>
          <a:ln w="12700">
            <a:solidFill>
              <a:srgbClr val="E3E7ED"/>
            </a:solidFill>
            <a:prstDash val="solid"/>
          </a:ln>
        </p:spPr>
      </p:sp>
      <p:sp>
        <p:nvSpPr>
          <p:cNvPr id="18" name="Text 16"/>
          <p:cNvSpPr/>
          <p:nvPr/>
        </p:nvSpPr>
        <p:spPr>
          <a:xfrm>
            <a:off x="8284464" y="2148840"/>
            <a:ext cx="3246120" cy="36576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Test a 7-day sale event against a longer one</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First quarterly re-forecast vs actuals</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Set acquisition targets and budget</a:t>
            </a:r>
            <a:endParaRPr lang="en-US" sz="1400" dirty="0"/>
          </a:p>
          <a:p>
            <a:pPr marL="342900" indent="-342900">
              <a:spcAft>
                <a:spcPts val="1000"/>
              </a:spcAft>
              <a:buSzPct val="100000"/>
              <a:buChar char="•"/>
            </a:pPr>
            <a:r>
              <a:rPr lang="en-US" sz="1400" dirty="0">
                <a:solidFill>
                  <a:srgbClr val="222222"/>
                </a:solidFill>
                <a:latin typeface="Calibri" pitchFamily="34" charset="0"/>
                <a:ea typeface="Calibri" pitchFamily="34" charset="-122"/>
                <a:cs typeface="Calibri" pitchFamily="34" charset="-120"/>
              </a:rPr>
              <a:t>Report results to management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731520" y="3291840"/>
            <a:ext cx="1463040" cy="64008"/>
          </a:xfrm>
          <a:prstGeom prst="rect">
            <a:avLst/>
          </a:prstGeom>
          <a:solidFill>
            <a:srgbClr val="C9A66B"/>
          </a:solidFill>
          <a:ln w="12700">
            <a:solidFill>
              <a:srgbClr val="C9A66B"/>
            </a:solidFill>
            <a:prstDash val="solid"/>
          </a:ln>
        </p:spPr>
      </p:sp>
      <p:sp>
        <p:nvSpPr>
          <p:cNvPr id="3" name="Text 1"/>
          <p:cNvSpPr/>
          <p:nvPr/>
        </p:nvSpPr>
        <p:spPr>
          <a:xfrm>
            <a:off x="731520" y="2377440"/>
            <a:ext cx="10725912" cy="822960"/>
          </a:xfrm>
          <a:prstGeom prst="rect">
            <a:avLst/>
          </a:prstGeom>
          <a:noFill/>
          <a:ln/>
        </p:spPr>
        <p:txBody>
          <a:bodyPr wrap="square" lIns="0" tIns="0" rIns="0" bIns="0" rtlCol="0" anchor="ctr"/>
          <a:lstStyle/>
          <a:p>
            <a:pPr indent="0" marL="0">
              <a:buNone/>
            </a:pPr>
            <a:r>
              <a:rPr lang="en-US" sz="3800" b="1" dirty="0">
                <a:solidFill>
                  <a:srgbClr val="FFFFFF"/>
                </a:solidFill>
                <a:latin typeface="Calibri" pitchFamily="34" charset="0"/>
                <a:ea typeface="Calibri" pitchFamily="34" charset="-122"/>
                <a:cs typeface="Calibri" pitchFamily="34" charset="-120"/>
              </a:rPr>
              <a:t>Questions and discussion</a:t>
            </a:r>
            <a:endParaRPr lang="en-US" sz="3800" dirty="0"/>
          </a:p>
        </p:txBody>
      </p:sp>
      <p:sp>
        <p:nvSpPr>
          <p:cNvPr id="4" name="Text 2"/>
          <p:cNvSpPr/>
          <p:nvPr/>
        </p:nvSpPr>
        <p:spPr>
          <a:xfrm>
            <a:off x="731520" y="3566160"/>
            <a:ext cx="10725912" cy="457200"/>
          </a:xfrm>
          <a:prstGeom prst="rect">
            <a:avLst/>
          </a:prstGeom>
          <a:noFill/>
          <a:ln/>
        </p:spPr>
        <p:txBody>
          <a:bodyPr wrap="square" lIns="0" tIns="0" rIns="0" bIns="0" rtlCol="0" anchor="ctr"/>
          <a:lstStyle/>
          <a:p>
            <a:pPr indent="0" marL="0">
              <a:buNone/>
            </a:pPr>
            <a:r>
              <a:rPr lang="en-US" sz="1500" dirty="0">
                <a:solidFill>
                  <a:srgbClr val="C9D2E0"/>
                </a:solidFill>
                <a:latin typeface="Calibri" pitchFamily="34" charset="0"/>
                <a:ea typeface="Calibri" pitchFamily="34" charset="-122"/>
                <a:cs typeface="Calibri" pitchFamily="34" charset="-120"/>
              </a:rPr>
              <a:t>Supporting files: Excel workbook (live formulas) · SQL script · executive report · data dictionary · README</a:t>
            </a:r>
            <a:endParaRPr lang="en-US" sz="1500" dirty="0"/>
          </a:p>
        </p:txBody>
      </p:sp>
      <p:sp>
        <p:nvSpPr>
          <p:cNvPr id="5" name="Text 3"/>
          <p:cNvSpPr/>
          <p:nvPr/>
        </p:nvSpPr>
        <p:spPr>
          <a:xfrm>
            <a:off x="731520" y="5943600"/>
            <a:ext cx="10725912" cy="365760"/>
          </a:xfrm>
          <a:prstGeom prst="rect">
            <a:avLst/>
          </a:prstGeom>
          <a:noFill/>
          <a:ln/>
        </p:spPr>
        <p:txBody>
          <a:bodyPr wrap="square" lIns="0" tIns="0" rIns="0" bIns="0" rtlCol="0" anchor="ctr"/>
          <a:lstStyle/>
          <a:p>
            <a:pPr indent="0" marL="0">
              <a:buNone/>
            </a:pPr>
            <a:r>
              <a:rPr lang="en-US" sz="1200" i="1" dirty="0">
                <a:solidFill>
                  <a:srgbClr val="8FA0BC"/>
                </a:solidFill>
                <a:latin typeface="Calibri" pitchFamily="34" charset="0"/>
                <a:ea typeface="Calibri" pitchFamily="34" charset="-122"/>
                <a:cs typeface="Calibri" pitchFamily="34" charset="-120"/>
              </a:rPr>
              <a:t>The dataset is synthetic and built for analytical practice; findings describe this dataset, not a live business.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Shopping Trends — Executive BI Presentation</dc:title>
  <dc:subject>PptxGenJS Presentation</dc:subject>
  <dc:creator>Business Intelligence</dc:creator>
  <cp:lastModifiedBy>Business Intelligence</cp:lastModifiedBy>
  <cp:revision>1</cp:revision>
  <dcterms:created xsi:type="dcterms:W3CDTF">2026-10-09T08:50:30Z</dcterms:created>
  <dcterms:modified xsi:type="dcterms:W3CDTF">2026-10-09T08:50:30Z</dcterms:modified>
</cp:coreProperties>
</file>